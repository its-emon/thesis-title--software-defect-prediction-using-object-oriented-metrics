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66" r:id="rId3"/>
    <p:sldId id="257" r:id="rId4"/>
    <p:sldId id="258" r:id="rId5"/>
    <p:sldId id="259" r:id="rId6"/>
    <p:sldId id="260" r:id="rId7"/>
    <p:sldId id="261" r:id="rId8"/>
    <p:sldId id="262" r:id="rId9"/>
    <p:sldId id="274" r:id="rId10"/>
    <p:sldId id="275" r:id="rId11"/>
    <p:sldId id="276" r:id="rId12"/>
    <p:sldId id="277" r:id="rId13"/>
    <p:sldId id="263" r:id="rId14"/>
    <p:sldId id="267" r:id="rId15"/>
    <p:sldId id="268" r:id="rId16"/>
    <p:sldId id="269" r:id="rId17"/>
    <p:sldId id="270" r:id="rId18"/>
    <p:sldId id="271" r:id="rId19"/>
    <p:sldId id="278" r:id="rId20"/>
    <p:sldId id="264" r:id="rId21"/>
    <p:sldId id="272" r:id="rId22"/>
    <p:sldId id="273" r:id="rId23"/>
    <p:sldId id="265"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9" d="100"/>
          <a:sy n="89" d="100"/>
        </p:scale>
        <p:origin x="46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DC4062-CA17-4933-ACFD-9719CD57DCDD}" type="datetimeFigureOut">
              <a:rPr lang="en-US" smtClean="0"/>
              <a:t>30-Apr-26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D51662-DE0D-42A8-8DF8-9972370E98C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4618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DC4062-CA17-4933-ACFD-9719CD57DCDD}" type="datetimeFigureOut">
              <a:rPr lang="en-US" smtClean="0"/>
              <a:t>30-Apr-26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D51662-DE0D-42A8-8DF8-9972370E98CC}" type="slidenum">
              <a:rPr lang="en-US" smtClean="0"/>
              <a:t>‹#›</a:t>
            </a:fld>
            <a:endParaRPr lang="en-US"/>
          </a:p>
        </p:txBody>
      </p:sp>
    </p:spTree>
    <p:extLst>
      <p:ext uri="{BB962C8B-B14F-4D97-AF65-F5344CB8AC3E}">
        <p14:creationId xmlns:p14="http://schemas.microsoft.com/office/powerpoint/2010/main" val="228096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DC4062-CA17-4933-ACFD-9719CD57DCDD}" type="datetimeFigureOut">
              <a:rPr lang="en-US" smtClean="0"/>
              <a:t>30-Apr-26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D51662-DE0D-42A8-8DF8-9972370E98C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7365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DC4062-CA17-4933-ACFD-9719CD57DCDD}" type="datetimeFigureOut">
              <a:rPr lang="en-US" smtClean="0"/>
              <a:t>30-Apr-26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D51662-DE0D-42A8-8DF8-9972370E98CC}" type="slidenum">
              <a:rPr lang="en-US" smtClean="0"/>
              <a:t>‹#›</a:t>
            </a:fld>
            <a:endParaRPr lang="en-US"/>
          </a:p>
        </p:txBody>
      </p:sp>
    </p:spTree>
    <p:extLst>
      <p:ext uri="{BB962C8B-B14F-4D97-AF65-F5344CB8AC3E}">
        <p14:creationId xmlns:p14="http://schemas.microsoft.com/office/powerpoint/2010/main" val="2137942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DC4062-CA17-4933-ACFD-9719CD57DCDD}" type="datetimeFigureOut">
              <a:rPr lang="en-US" smtClean="0"/>
              <a:t>30-Apr-26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D51662-DE0D-42A8-8DF8-9972370E98CC}" type="slidenum">
              <a:rPr lang="en-US" smtClean="0"/>
              <a:t>‹#›</a:t>
            </a:fld>
            <a:endParaRPr lang="en-US"/>
          </a:p>
        </p:txBody>
      </p:sp>
    </p:spTree>
    <p:extLst>
      <p:ext uri="{BB962C8B-B14F-4D97-AF65-F5344CB8AC3E}">
        <p14:creationId xmlns:p14="http://schemas.microsoft.com/office/powerpoint/2010/main" val="3427775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DC4062-CA17-4933-ACFD-9719CD57DCDD}" type="datetimeFigureOut">
              <a:rPr lang="en-US" smtClean="0"/>
              <a:t>30-Apr-26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D51662-DE0D-42A8-8DF8-9972370E98CC}" type="slidenum">
              <a:rPr lang="en-US" smtClean="0"/>
              <a:t>‹#›</a:t>
            </a:fld>
            <a:endParaRPr lang="en-US"/>
          </a:p>
        </p:txBody>
      </p:sp>
    </p:spTree>
    <p:extLst>
      <p:ext uri="{BB962C8B-B14F-4D97-AF65-F5344CB8AC3E}">
        <p14:creationId xmlns:p14="http://schemas.microsoft.com/office/powerpoint/2010/main" val="2732751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11DC4062-CA17-4933-ACFD-9719CD57DCDD}" type="datetimeFigureOut">
              <a:rPr lang="en-US" smtClean="0"/>
              <a:t>30-Apr-26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7D51662-DE0D-42A8-8DF8-9972370E98CC}" type="slidenum">
              <a:rPr lang="en-US" smtClean="0"/>
              <a:t>‹#›</a:t>
            </a:fld>
            <a:endParaRPr lang="en-US"/>
          </a:p>
        </p:txBody>
      </p:sp>
    </p:spTree>
    <p:extLst>
      <p:ext uri="{BB962C8B-B14F-4D97-AF65-F5344CB8AC3E}">
        <p14:creationId xmlns:p14="http://schemas.microsoft.com/office/powerpoint/2010/main" val="531619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1DC4062-CA17-4933-ACFD-9719CD57DCDD}" type="datetimeFigureOut">
              <a:rPr lang="en-US" smtClean="0"/>
              <a:t>30-Apr-26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7D51662-DE0D-42A8-8DF8-9972370E98CC}" type="slidenum">
              <a:rPr lang="en-US" smtClean="0"/>
              <a:t>‹#›</a:t>
            </a:fld>
            <a:endParaRPr lang="en-US"/>
          </a:p>
        </p:txBody>
      </p:sp>
    </p:spTree>
    <p:extLst>
      <p:ext uri="{BB962C8B-B14F-4D97-AF65-F5344CB8AC3E}">
        <p14:creationId xmlns:p14="http://schemas.microsoft.com/office/powerpoint/2010/main" val="28389666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DC4062-CA17-4933-ACFD-9719CD57DCDD}" type="datetimeFigureOut">
              <a:rPr lang="en-US" smtClean="0"/>
              <a:t>30-Apr-26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D51662-DE0D-42A8-8DF8-9972370E98CC}" type="slidenum">
              <a:rPr lang="en-US" smtClean="0"/>
              <a:t>‹#›</a:t>
            </a:fld>
            <a:endParaRPr lang="en-US"/>
          </a:p>
        </p:txBody>
      </p:sp>
    </p:spTree>
    <p:extLst>
      <p:ext uri="{BB962C8B-B14F-4D97-AF65-F5344CB8AC3E}">
        <p14:creationId xmlns:p14="http://schemas.microsoft.com/office/powerpoint/2010/main" val="3853522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DC4062-CA17-4933-ACFD-9719CD57DCDD}" type="datetimeFigureOut">
              <a:rPr lang="en-US" smtClean="0"/>
              <a:t>30-Apr-26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D51662-DE0D-42A8-8DF8-9972370E98CC}" type="slidenum">
              <a:rPr lang="en-US" smtClean="0"/>
              <a:t>‹#›</a:t>
            </a:fld>
            <a:endParaRPr lang="en-US"/>
          </a:p>
        </p:txBody>
      </p:sp>
    </p:spTree>
    <p:extLst>
      <p:ext uri="{BB962C8B-B14F-4D97-AF65-F5344CB8AC3E}">
        <p14:creationId xmlns:p14="http://schemas.microsoft.com/office/powerpoint/2010/main" val="551893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DC4062-CA17-4933-ACFD-9719CD57DCDD}" type="datetimeFigureOut">
              <a:rPr lang="en-US" smtClean="0"/>
              <a:t>30-Apr-26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D51662-DE0D-42A8-8DF8-9972370E98CC}" type="slidenum">
              <a:rPr lang="en-US" smtClean="0"/>
              <a:t>‹#›</a:t>
            </a:fld>
            <a:endParaRPr lang="en-US"/>
          </a:p>
        </p:txBody>
      </p:sp>
    </p:spTree>
    <p:extLst>
      <p:ext uri="{BB962C8B-B14F-4D97-AF65-F5344CB8AC3E}">
        <p14:creationId xmlns:p14="http://schemas.microsoft.com/office/powerpoint/2010/main" val="2151042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1DC4062-CA17-4933-ACFD-9719CD57DCDD}" type="datetimeFigureOut">
              <a:rPr lang="en-US" smtClean="0"/>
              <a:t>30-Apr-26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7D51662-DE0D-42A8-8DF8-9972370E98CC}"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078244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2.jp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80EBB06-B548-4B55-82EE-893B65F80D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955" y="56737"/>
            <a:ext cx="1613038" cy="1613038"/>
          </a:xfrm>
          <a:prstGeom prst="rect">
            <a:avLst/>
          </a:prstGeom>
        </p:spPr>
      </p:pic>
      <p:sp>
        <p:nvSpPr>
          <p:cNvPr id="11" name="TextBox 10">
            <a:extLst>
              <a:ext uri="{FF2B5EF4-FFF2-40B4-BE49-F238E27FC236}">
                <a16:creationId xmlns:a16="http://schemas.microsoft.com/office/drawing/2014/main" id="{FDC54C00-DE66-40B8-A814-E2B206679E3B}"/>
              </a:ext>
            </a:extLst>
          </p:cNvPr>
          <p:cNvSpPr txBox="1"/>
          <p:nvPr/>
        </p:nvSpPr>
        <p:spPr>
          <a:xfrm>
            <a:off x="2626397" y="493353"/>
            <a:ext cx="7580244" cy="461665"/>
          </a:xfrm>
          <a:prstGeom prst="rect">
            <a:avLst/>
          </a:prstGeom>
          <a:noFill/>
        </p:spPr>
        <p:txBody>
          <a:bodyPr wrap="square" rtlCol="0">
            <a:spAutoFit/>
          </a:bodyPr>
          <a:lstStyle/>
          <a:p>
            <a:pPr algn="just"/>
            <a:r>
              <a:rPr lang="en-US" sz="2400" b="1" dirty="0">
                <a:solidFill>
                  <a:schemeClr val="bg2">
                    <a:lumMod val="50000"/>
                  </a:schemeClr>
                </a:solidFill>
              </a:rPr>
              <a:t>AMERICAN INTERNATION UNIVERSITY-BANGLADESH</a:t>
            </a:r>
          </a:p>
        </p:txBody>
      </p:sp>
      <p:sp>
        <p:nvSpPr>
          <p:cNvPr id="14" name="TextBox 13">
            <a:extLst>
              <a:ext uri="{FF2B5EF4-FFF2-40B4-BE49-F238E27FC236}">
                <a16:creationId xmlns:a16="http://schemas.microsoft.com/office/drawing/2014/main" id="{6A0F8A45-0301-44E0-A4BB-15B97E3269C3}"/>
              </a:ext>
            </a:extLst>
          </p:cNvPr>
          <p:cNvSpPr txBox="1"/>
          <p:nvPr/>
        </p:nvSpPr>
        <p:spPr>
          <a:xfrm>
            <a:off x="7699514" y="5562506"/>
            <a:ext cx="2613144" cy="400110"/>
          </a:xfrm>
          <a:prstGeom prst="rect">
            <a:avLst/>
          </a:prstGeom>
          <a:noFill/>
        </p:spPr>
        <p:txBody>
          <a:bodyPr wrap="square" rtlCol="0">
            <a:spAutoFit/>
          </a:bodyPr>
          <a:lstStyle/>
          <a:p>
            <a:r>
              <a:rPr lang="en-US" sz="2000" b="1" dirty="0" err="1">
                <a:solidFill>
                  <a:schemeClr val="accent2"/>
                </a:solidFill>
              </a:rPr>
              <a:t>Kuratali,Khilket</a:t>
            </a:r>
            <a:r>
              <a:rPr lang="en-US" sz="2000" b="1" dirty="0">
                <a:solidFill>
                  <a:schemeClr val="accent2"/>
                </a:solidFill>
              </a:rPr>
              <a:t>, Dhaka</a:t>
            </a:r>
          </a:p>
        </p:txBody>
      </p:sp>
      <p:pic>
        <p:nvPicPr>
          <p:cNvPr id="4" name="Picture 3">
            <a:extLst>
              <a:ext uri="{FF2B5EF4-FFF2-40B4-BE49-F238E27FC236}">
                <a16:creationId xmlns:a16="http://schemas.microsoft.com/office/drawing/2014/main" id="{704C6D9A-FF34-BCA6-F876-00FA816CEE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6690" y="4563239"/>
            <a:ext cx="1833505" cy="1652031"/>
          </a:xfrm>
          <a:prstGeom prst="rect">
            <a:avLst/>
          </a:prstGeom>
        </p:spPr>
      </p:pic>
      <p:sp>
        <p:nvSpPr>
          <p:cNvPr id="2" name="TextBox 1">
            <a:extLst>
              <a:ext uri="{FF2B5EF4-FFF2-40B4-BE49-F238E27FC236}">
                <a16:creationId xmlns:a16="http://schemas.microsoft.com/office/drawing/2014/main" id="{44CDAEFD-F2E4-F320-600F-A1A9BDD07D30}"/>
              </a:ext>
            </a:extLst>
          </p:cNvPr>
          <p:cNvSpPr txBox="1"/>
          <p:nvPr/>
        </p:nvSpPr>
        <p:spPr>
          <a:xfrm>
            <a:off x="2694636" y="2001671"/>
            <a:ext cx="7827788" cy="1323439"/>
          </a:xfrm>
          <a:prstGeom prst="rect">
            <a:avLst/>
          </a:prstGeom>
          <a:noFill/>
        </p:spPr>
        <p:txBody>
          <a:bodyPr wrap="square" rtlCol="0">
            <a:spAutoFit/>
          </a:bodyPr>
          <a:lstStyle/>
          <a:p>
            <a:r>
              <a:rPr lang="en-US" sz="4000" b="1" dirty="0">
                <a:solidFill>
                  <a:schemeClr val="bg2">
                    <a:lumMod val="50000"/>
                  </a:schemeClr>
                </a:solidFill>
              </a:rPr>
              <a:t>Software Defect Prediction Using- Object Oriented Metrics</a:t>
            </a:r>
          </a:p>
        </p:txBody>
      </p:sp>
    </p:spTree>
    <p:extLst>
      <p:ext uri="{BB962C8B-B14F-4D97-AF65-F5344CB8AC3E}">
        <p14:creationId xmlns:p14="http://schemas.microsoft.com/office/powerpoint/2010/main" val="40572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16EED99F-024B-20EE-1BD2-0EBE7BE7A972}"/>
              </a:ext>
            </a:extLst>
          </p:cNvPr>
          <p:cNvGraphicFramePr>
            <a:graphicFrameLocks noGrp="1"/>
          </p:cNvGraphicFramePr>
          <p:nvPr>
            <p:extLst>
              <p:ext uri="{D42A27DB-BD31-4B8C-83A1-F6EECF244321}">
                <p14:modId xmlns:p14="http://schemas.microsoft.com/office/powerpoint/2010/main" val="12708086"/>
              </p:ext>
            </p:extLst>
          </p:nvPr>
        </p:nvGraphicFramePr>
        <p:xfrm>
          <a:off x="404449" y="2133600"/>
          <a:ext cx="5439760" cy="3684105"/>
        </p:xfrm>
        <a:graphic>
          <a:graphicData uri="http://schemas.openxmlformats.org/drawingml/2006/table">
            <a:tbl>
              <a:tblPr firstRow="1" bandRow="1">
                <a:tableStyleId>{5C22544A-7EE6-4342-B048-85BDC9FD1C3A}</a:tableStyleId>
              </a:tblPr>
              <a:tblGrid>
                <a:gridCol w="2719880">
                  <a:extLst>
                    <a:ext uri="{9D8B030D-6E8A-4147-A177-3AD203B41FA5}">
                      <a16:colId xmlns:a16="http://schemas.microsoft.com/office/drawing/2014/main" val="1329449411"/>
                    </a:ext>
                  </a:extLst>
                </a:gridCol>
                <a:gridCol w="2719880">
                  <a:extLst>
                    <a:ext uri="{9D8B030D-6E8A-4147-A177-3AD203B41FA5}">
                      <a16:colId xmlns:a16="http://schemas.microsoft.com/office/drawing/2014/main" val="1798958573"/>
                    </a:ext>
                  </a:extLst>
                </a:gridCol>
              </a:tblGrid>
              <a:tr h="736821">
                <a:tc>
                  <a:txBody>
                    <a:bodyPr/>
                    <a:lstStyle/>
                    <a:p>
                      <a:r>
                        <a:rPr lang="en-US" dirty="0"/>
                        <a:t>STUDENT NAME </a:t>
                      </a:r>
                    </a:p>
                  </a:txBody>
                  <a:tcPr/>
                </a:tc>
                <a:tc>
                  <a:txBody>
                    <a:bodyPr/>
                    <a:lstStyle/>
                    <a:p>
                      <a:r>
                        <a:rPr lang="en-US" dirty="0"/>
                        <a:t> STUDENT ID</a:t>
                      </a:r>
                    </a:p>
                  </a:txBody>
                  <a:tcPr/>
                </a:tc>
                <a:extLst>
                  <a:ext uri="{0D108BD9-81ED-4DB2-BD59-A6C34878D82A}">
                    <a16:rowId xmlns:a16="http://schemas.microsoft.com/office/drawing/2014/main" val="734421306"/>
                  </a:ext>
                </a:extLst>
              </a:tr>
              <a:tr h="736821">
                <a:tc>
                  <a:txBody>
                    <a:bodyPr/>
                    <a:lstStyle/>
                    <a:p>
                      <a:r>
                        <a:rPr lang="en-US" dirty="0" err="1"/>
                        <a:t>Tazrian</a:t>
                      </a:r>
                      <a:r>
                        <a:rPr lang="en-US" dirty="0"/>
                        <a:t> Zaman </a:t>
                      </a:r>
                      <a:r>
                        <a:rPr lang="en-US" dirty="0" err="1"/>
                        <a:t>Tushti</a:t>
                      </a:r>
                      <a:endParaRPr lang="en-US" dirty="0"/>
                    </a:p>
                  </a:txBody>
                  <a:tcPr/>
                </a:tc>
                <a:tc>
                  <a:txBody>
                    <a:bodyPr/>
                    <a:lstStyle/>
                    <a:p>
                      <a:r>
                        <a:rPr lang="en-US" dirty="0"/>
                        <a:t>19-39433-1</a:t>
                      </a:r>
                    </a:p>
                  </a:txBody>
                  <a:tcPr/>
                </a:tc>
                <a:extLst>
                  <a:ext uri="{0D108BD9-81ED-4DB2-BD59-A6C34878D82A}">
                    <a16:rowId xmlns:a16="http://schemas.microsoft.com/office/drawing/2014/main" val="3222241076"/>
                  </a:ext>
                </a:extLst>
              </a:tr>
              <a:tr h="736821">
                <a:tc>
                  <a:txBody>
                    <a:bodyPr/>
                    <a:lstStyle/>
                    <a:p>
                      <a:r>
                        <a:rPr lang="en-US" dirty="0" err="1"/>
                        <a:t>Tasnim</a:t>
                      </a:r>
                      <a:r>
                        <a:rPr lang="en-US" dirty="0"/>
                        <a:t> </a:t>
                      </a:r>
                      <a:r>
                        <a:rPr lang="en-US" dirty="0" err="1"/>
                        <a:t>Khondoker</a:t>
                      </a:r>
                      <a:r>
                        <a:rPr lang="en-US" dirty="0"/>
                        <a:t> </a:t>
                      </a:r>
                      <a:r>
                        <a:rPr lang="en-US" dirty="0" err="1"/>
                        <a:t>Mim</a:t>
                      </a:r>
                      <a:endParaRPr lang="en-US" dirty="0"/>
                    </a:p>
                  </a:txBody>
                  <a:tcPr/>
                </a:tc>
                <a:tc>
                  <a:txBody>
                    <a:bodyPr/>
                    <a:lstStyle/>
                    <a:p>
                      <a:r>
                        <a:rPr lang="en-US" dirty="0"/>
                        <a:t>19-39527-1</a:t>
                      </a:r>
                    </a:p>
                  </a:txBody>
                  <a:tcPr/>
                </a:tc>
                <a:extLst>
                  <a:ext uri="{0D108BD9-81ED-4DB2-BD59-A6C34878D82A}">
                    <a16:rowId xmlns:a16="http://schemas.microsoft.com/office/drawing/2014/main" val="3589429532"/>
                  </a:ext>
                </a:extLst>
              </a:tr>
              <a:tr h="736821">
                <a:tc>
                  <a:txBody>
                    <a:bodyPr/>
                    <a:lstStyle/>
                    <a:p>
                      <a:pPr marL="0" algn="l" rtl="0" eaLnBrk="1" fontAlgn="t" latinLnBrk="0" hangingPunct="1">
                        <a:buNone/>
                      </a:pPr>
                      <a:r>
                        <a:rPr lang="en-US" sz="1800" b="0" i="0" u="none" strike="noStrike" kern="1200">
                          <a:solidFill>
                            <a:srgbClr val="000000"/>
                          </a:solidFill>
                          <a:effectLst/>
                          <a:latin typeface="Calibri" panose="020F0502020204030204" pitchFamily="34" charset="0"/>
                        </a:rPr>
                        <a:t>Md Abdullah Al Hossain</a:t>
                      </a:r>
                      <a:endParaRPr lang="en-US" sz="1800" b="0" i="0" u="none" strike="noStrike">
                        <a:effectLst/>
                        <a:latin typeface="Arial" panose="020B0604020202020204" pitchFamily="34" charset="0"/>
                      </a:endParaRPr>
                    </a:p>
                  </a:txBody>
                  <a:tcPr/>
                </a:tc>
                <a:tc>
                  <a:txBody>
                    <a:bodyPr/>
                    <a:lstStyle/>
                    <a:p>
                      <a:pPr marL="0" algn="l" rtl="0" eaLnBrk="1" fontAlgn="t" latinLnBrk="0" hangingPunct="1">
                        <a:buNone/>
                      </a:pPr>
                      <a:r>
                        <a:rPr lang="en-US" sz="1800" b="0" i="0" u="none" strike="noStrike" dirty="0">
                          <a:effectLst/>
                          <a:latin typeface="+mn-lt"/>
                          <a:cs typeface="Arial" panose="020B0604020202020204" pitchFamily="34" charset="0"/>
                        </a:rPr>
                        <a:t>19-40083-1</a:t>
                      </a:r>
                    </a:p>
                  </a:txBody>
                  <a:tcPr/>
                </a:tc>
                <a:extLst>
                  <a:ext uri="{0D108BD9-81ED-4DB2-BD59-A6C34878D82A}">
                    <a16:rowId xmlns:a16="http://schemas.microsoft.com/office/drawing/2014/main" val="3390171936"/>
                  </a:ext>
                </a:extLst>
              </a:tr>
              <a:tr h="736821">
                <a:tc>
                  <a:txBody>
                    <a:bodyPr/>
                    <a:lstStyle/>
                    <a:p>
                      <a:r>
                        <a:rPr lang="en-US" dirty="0" err="1"/>
                        <a:t>Afique</a:t>
                      </a:r>
                      <a:r>
                        <a:rPr lang="en-US" dirty="0"/>
                        <a:t> </a:t>
                      </a:r>
                      <a:r>
                        <a:rPr lang="en-US" dirty="0" err="1"/>
                        <a:t>Sadique</a:t>
                      </a:r>
                      <a:endParaRPr lang="en-US" dirty="0"/>
                    </a:p>
                  </a:txBody>
                  <a:tcPr/>
                </a:tc>
                <a:tc>
                  <a:txBody>
                    <a:bodyPr/>
                    <a:lstStyle/>
                    <a:p>
                      <a:r>
                        <a:rPr lang="en-US" dirty="0"/>
                        <a:t>19-39708-1</a:t>
                      </a:r>
                    </a:p>
                  </a:txBody>
                  <a:tcPr/>
                </a:tc>
                <a:extLst>
                  <a:ext uri="{0D108BD9-81ED-4DB2-BD59-A6C34878D82A}">
                    <a16:rowId xmlns:a16="http://schemas.microsoft.com/office/drawing/2014/main" val="4261940158"/>
                  </a:ext>
                </a:extLst>
              </a:tr>
            </a:tbl>
          </a:graphicData>
        </a:graphic>
      </p:graphicFrame>
      <p:pic>
        <p:nvPicPr>
          <p:cNvPr id="4" name="Picture 3">
            <a:extLst>
              <a:ext uri="{FF2B5EF4-FFF2-40B4-BE49-F238E27FC236}">
                <a16:creationId xmlns:a16="http://schemas.microsoft.com/office/drawing/2014/main" id="{1B75F04C-7869-4F81-B578-16F4BA1ED2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643" y="148499"/>
            <a:ext cx="1613038" cy="1613038"/>
          </a:xfrm>
          <a:prstGeom prst="rect">
            <a:avLst/>
          </a:prstGeom>
        </p:spPr>
      </p:pic>
      <p:sp>
        <p:nvSpPr>
          <p:cNvPr id="5" name="TextBox 4">
            <a:extLst>
              <a:ext uri="{FF2B5EF4-FFF2-40B4-BE49-F238E27FC236}">
                <a16:creationId xmlns:a16="http://schemas.microsoft.com/office/drawing/2014/main" id="{CE5BCE14-2721-6604-D6B3-5180CBD41A22}"/>
              </a:ext>
            </a:extLst>
          </p:cNvPr>
          <p:cNvSpPr txBox="1"/>
          <p:nvPr/>
        </p:nvSpPr>
        <p:spPr>
          <a:xfrm>
            <a:off x="2626397" y="493353"/>
            <a:ext cx="7580244" cy="461665"/>
          </a:xfrm>
          <a:prstGeom prst="rect">
            <a:avLst/>
          </a:prstGeom>
          <a:noFill/>
        </p:spPr>
        <p:txBody>
          <a:bodyPr wrap="square" rtlCol="0">
            <a:spAutoFit/>
          </a:bodyPr>
          <a:lstStyle/>
          <a:p>
            <a:pPr algn="just"/>
            <a:r>
              <a:rPr lang="en-US" sz="2400" b="1" dirty="0">
                <a:solidFill>
                  <a:schemeClr val="bg2">
                    <a:lumMod val="50000"/>
                  </a:schemeClr>
                </a:solidFill>
              </a:rPr>
              <a:t>AMERICAN INTERNATION UNIVERSITY-BANGLADESH</a:t>
            </a:r>
          </a:p>
        </p:txBody>
      </p:sp>
      <p:cxnSp>
        <p:nvCxnSpPr>
          <p:cNvPr id="7" name="Straight Connector 6">
            <a:extLst>
              <a:ext uri="{FF2B5EF4-FFF2-40B4-BE49-F238E27FC236}">
                <a16:creationId xmlns:a16="http://schemas.microsoft.com/office/drawing/2014/main" id="{D3E07F49-8497-2328-AF38-D9BAC1700E6B}"/>
              </a:ext>
            </a:extLst>
          </p:cNvPr>
          <p:cNvCxnSpPr/>
          <p:nvPr/>
        </p:nvCxnSpPr>
        <p:spPr>
          <a:xfrm>
            <a:off x="6559826" y="2133600"/>
            <a:ext cx="0" cy="3684105"/>
          </a:xfrm>
          <a:prstGeom prst="line">
            <a:avLst/>
          </a:prstGeom>
        </p:spPr>
        <p:style>
          <a:lnRef idx="3">
            <a:schemeClr val="accent3"/>
          </a:lnRef>
          <a:fillRef idx="0">
            <a:schemeClr val="accent3"/>
          </a:fillRef>
          <a:effectRef idx="2">
            <a:schemeClr val="accent3"/>
          </a:effectRef>
          <a:fontRef idx="minor">
            <a:schemeClr val="tx1"/>
          </a:fontRef>
        </p:style>
      </p:cxnSp>
      <p:sp>
        <p:nvSpPr>
          <p:cNvPr id="8" name="TextBox 7">
            <a:extLst>
              <a:ext uri="{FF2B5EF4-FFF2-40B4-BE49-F238E27FC236}">
                <a16:creationId xmlns:a16="http://schemas.microsoft.com/office/drawing/2014/main" id="{C9D34AD4-9D94-66FE-FC1D-CF6779F3517A}"/>
              </a:ext>
            </a:extLst>
          </p:cNvPr>
          <p:cNvSpPr txBox="1"/>
          <p:nvPr/>
        </p:nvSpPr>
        <p:spPr>
          <a:xfrm>
            <a:off x="6877879" y="2797651"/>
            <a:ext cx="4909672" cy="1785104"/>
          </a:xfrm>
          <a:prstGeom prst="rect">
            <a:avLst/>
          </a:prstGeom>
          <a:noFill/>
        </p:spPr>
        <p:txBody>
          <a:bodyPr wrap="square" rtlCol="0">
            <a:spAutoFit/>
          </a:bodyPr>
          <a:lstStyle/>
          <a:p>
            <a:r>
              <a:rPr lang="en-US" b="1" dirty="0"/>
              <a:t>Supervisor’s  Name</a:t>
            </a:r>
          </a:p>
          <a:p>
            <a:endParaRPr lang="en-US" b="1" dirty="0"/>
          </a:p>
          <a:p>
            <a:r>
              <a:rPr lang="en-US" sz="2000" dirty="0"/>
              <a:t>Kazi Sadia</a:t>
            </a:r>
          </a:p>
          <a:p>
            <a:r>
              <a:rPr lang="en-US" dirty="0"/>
              <a:t>Lecturer</a:t>
            </a:r>
          </a:p>
          <a:p>
            <a:r>
              <a:rPr lang="en-US" dirty="0"/>
              <a:t>Faculty of Science and Technology</a:t>
            </a:r>
          </a:p>
          <a:p>
            <a:r>
              <a:rPr lang="en-US" dirty="0"/>
              <a:t>American International University-Bangladesh</a:t>
            </a:r>
          </a:p>
        </p:txBody>
      </p:sp>
    </p:spTree>
    <p:extLst>
      <p:ext uri="{BB962C8B-B14F-4D97-AF65-F5344CB8AC3E}">
        <p14:creationId xmlns:p14="http://schemas.microsoft.com/office/powerpoint/2010/main" val="2481834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1EC6E-52A7-4356-B676-9676A6E71855}"/>
              </a:ext>
            </a:extLst>
          </p:cNvPr>
          <p:cNvSpPr>
            <a:spLocks noGrp="1"/>
          </p:cNvSpPr>
          <p:nvPr>
            <p:ph type="title"/>
          </p:nvPr>
        </p:nvSpPr>
        <p:spPr/>
        <p:txBody>
          <a:bodyPr/>
          <a:lstStyle/>
          <a:p>
            <a:r>
              <a:rPr lang="en-US" dirty="0"/>
              <a:t>Outlines</a:t>
            </a:r>
          </a:p>
        </p:txBody>
      </p:sp>
      <p:pic>
        <p:nvPicPr>
          <p:cNvPr id="5" name="Picture 4">
            <a:extLst>
              <a:ext uri="{FF2B5EF4-FFF2-40B4-BE49-F238E27FC236}">
                <a16:creationId xmlns:a16="http://schemas.microsoft.com/office/drawing/2014/main" id="{3BEEE537-AAF6-49B2-A54E-E81BDDAED7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2013" y="142462"/>
            <a:ext cx="1464614" cy="1464614"/>
          </a:xfrm>
          <a:prstGeom prst="rect">
            <a:avLst/>
          </a:prstGeom>
        </p:spPr>
      </p:pic>
      <p:sp>
        <p:nvSpPr>
          <p:cNvPr id="12" name="TextBox 11">
            <a:extLst>
              <a:ext uri="{FF2B5EF4-FFF2-40B4-BE49-F238E27FC236}">
                <a16:creationId xmlns:a16="http://schemas.microsoft.com/office/drawing/2014/main" id="{4233747E-1043-47F7-B852-683951FA8548}"/>
              </a:ext>
            </a:extLst>
          </p:cNvPr>
          <p:cNvSpPr txBox="1"/>
          <p:nvPr/>
        </p:nvSpPr>
        <p:spPr>
          <a:xfrm>
            <a:off x="9972013" y="5816887"/>
            <a:ext cx="184731" cy="369332"/>
          </a:xfrm>
          <a:prstGeom prst="rect">
            <a:avLst/>
          </a:prstGeom>
          <a:noFill/>
        </p:spPr>
        <p:txBody>
          <a:bodyPr wrap="none" rtlCol="0">
            <a:spAutoFit/>
          </a:bodyPr>
          <a:lstStyle/>
          <a:p>
            <a:endParaRPr lang="en-US" dirty="0"/>
          </a:p>
        </p:txBody>
      </p:sp>
      <p:sp>
        <p:nvSpPr>
          <p:cNvPr id="14" name="Rectangle 13">
            <a:extLst>
              <a:ext uri="{FF2B5EF4-FFF2-40B4-BE49-F238E27FC236}">
                <a16:creationId xmlns:a16="http://schemas.microsoft.com/office/drawing/2014/main" id="{E0888EE5-2628-4A63-B3EE-0C9C66996244}"/>
              </a:ext>
            </a:extLst>
          </p:cNvPr>
          <p:cNvSpPr/>
          <p:nvPr/>
        </p:nvSpPr>
        <p:spPr>
          <a:xfrm>
            <a:off x="10064378" y="6378272"/>
            <a:ext cx="596347" cy="4797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a:t>
            </a:r>
          </a:p>
        </p:txBody>
      </p:sp>
      <p:pic>
        <p:nvPicPr>
          <p:cNvPr id="17" name="Picture 16">
            <a:extLst>
              <a:ext uri="{FF2B5EF4-FFF2-40B4-BE49-F238E27FC236}">
                <a16:creationId xmlns:a16="http://schemas.microsoft.com/office/drawing/2014/main" id="{2DA896E2-56C7-4516-AECD-9C0F919AA0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5565" y="2269525"/>
            <a:ext cx="2871997" cy="2871997"/>
          </a:xfrm>
          <a:prstGeom prst="rect">
            <a:avLst/>
          </a:prstGeom>
        </p:spPr>
      </p:pic>
      <p:sp>
        <p:nvSpPr>
          <p:cNvPr id="6" name="Content Placeholder 5">
            <a:extLst>
              <a:ext uri="{FF2B5EF4-FFF2-40B4-BE49-F238E27FC236}">
                <a16:creationId xmlns:a16="http://schemas.microsoft.com/office/drawing/2014/main" id="{33639351-36B2-1603-EB29-906553EF7D86}"/>
              </a:ext>
            </a:extLst>
          </p:cNvPr>
          <p:cNvSpPr>
            <a:spLocks noGrp="1"/>
          </p:cNvSpPr>
          <p:nvPr>
            <p:ph idx="1"/>
          </p:nvPr>
        </p:nvSpPr>
        <p:spPr>
          <a:xfrm>
            <a:off x="1097279" y="1876720"/>
            <a:ext cx="9563445" cy="3992373"/>
          </a:xfrm>
        </p:spPr>
        <p:txBody>
          <a:bodyPr>
            <a:normAutofit fontScale="70000" lnSpcReduction="20000"/>
          </a:bodyPr>
          <a:lstStyle/>
          <a:p>
            <a:pPr>
              <a:buFont typeface="Wingdings" panose="05000000000000000000" pitchFamily="2" charset="2"/>
              <a:buChar char="Ø"/>
            </a:pPr>
            <a:r>
              <a:rPr lang="en-US" sz="2300" b="1" dirty="0"/>
              <a:t> INTRODUCTION</a:t>
            </a:r>
          </a:p>
          <a:p>
            <a:pPr>
              <a:buFont typeface="Wingdings" panose="05000000000000000000" pitchFamily="2" charset="2"/>
              <a:buChar char="Ø"/>
            </a:pPr>
            <a:r>
              <a:rPr lang="en-US" sz="2300" b="1" dirty="0"/>
              <a:t> MOTIVATION</a:t>
            </a:r>
          </a:p>
          <a:p>
            <a:pPr>
              <a:buFont typeface="Wingdings" panose="05000000000000000000" pitchFamily="2" charset="2"/>
              <a:buChar char="Ø"/>
            </a:pPr>
            <a:r>
              <a:rPr lang="en-US" sz="2300" b="1" dirty="0"/>
              <a:t> OBJECTIVE</a:t>
            </a:r>
          </a:p>
          <a:p>
            <a:pPr>
              <a:buFont typeface="Wingdings" panose="05000000000000000000" pitchFamily="2" charset="2"/>
              <a:buChar char="Ø"/>
            </a:pPr>
            <a:r>
              <a:rPr lang="en-US" sz="2300" b="1" dirty="0"/>
              <a:t> RESEARCH QUESTION</a:t>
            </a:r>
          </a:p>
          <a:p>
            <a:pPr>
              <a:buFont typeface="Wingdings" panose="05000000000000000000" pitchFamily="2" charset="2"/>
              <a:buChar char="Ø"/>
            </a:pPr>
            <a:r>
              <a:rPr lang="en-US" sz="2300" b="1" dirty="0"/>
              <a:t> LITERATURE REVIEW</a:t>
            </a:r>
          </a:p>
          <a:p>
            <a:pPr>
              <a:buFont typeface="Wingdings" panose="05000000000000000000" pitchFamily="2" charset="2"/>
              <a:buChar char="Ø"/>
            </a:pPr>
            <a:r>
              <a:rPr lang="en-US" sz="2300" b="1" dirty="0"/>
              <a:t> PROPOSED METHODOLOGY</a:t>
            </a:r>
          </a:p>
          <a:p>
            <a:pPr>
              <a:buFont typeface="Wingdings" panose="05000000000000000000" pitchFamily="2" charset="2"/>
              <a:buChar char="Ø"/>
            </a:pPr>
            <a:r>
              <a:rPr lang="en-US" sz="2300" b="1" dirty="0"/>
              <a:t>WORKING PROCEDURE</a:t>
            </a:r>
          </a:p>
          <a:p>
            <a:pPr>
              <a:buFont typeface="Wingdings" panose="05000000000000000000" pitchFamily="2" charset="2"/>
              <a:buChar char="Ø"/>
            </a:pPr>
            <a:r>
              <a:rPr lang="en-US" sz="2300" b="1" dirty="0"/>
              <a:t>CLASSIFIER SELECTION</a:t>
            </a:r>
          </a:p>
          <a:p>
            <a:pPr>
              <a:buFont typeface="Wingdings" panose="05000000000000000000" pitchFamily="2" charset="2"/>
              <a:buChar char="Ø"/>
            </a:pPr>
            <a:r>
              <a:rPr lang="en-US" sz="2300" b="1" dirty="0"/>
              <a:t>RESULTS</a:t>
            </a:r>
          </a:p>
          <a:p>
            <a:pPr>
              <a:buFont typeface="Wingdings" panose="05000000000000000000" pitchFamily="2" charset="2"/>
              <a:buChar char="Ø"/>
            </a:pPr>
            <a:r>
              <a:rPr lang="en-US" sz="2300" b="1" dirty="0"/>
              <a:t>FUTURE WORK</a:t>
            </a:r>
          </a:p>
          <a:p>
            <a:pPr>
              <a:buFont typeface="Wingdings" panose="05000000000000000000" pitchFamily="2" charset="2"/>
              <a:buChar char="Ø"/>
            </a:pPr>
            <a:r>
              <a:rPr lang="en-US" sz="2300" b="1" dirty="0"/>
              <a:t> REFERENCE</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pic>
        <p:nvPicPr>
          <p:cNvPr id="8" name="Picture 7">
            <a:extLst>
              <a:ext uri="{FF2B5EF4-FFF2-40B4-BE49-F238E27FC236}">
                <a16:creationId xmlns:a16="http://schemas.microsoft.com/office/drawing/2014/main" id="{FF3F153C-B5D5-562D-B569-ECBA1DD22E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667218"/>
            <a:ext cx="742122" cy="668669"/>
          </a:xfrm>
          <a:prstGeom prst="rect">
            <a:avLst/>
          </a:prstGeom>
        </p:spPr>
      </p:pic>
    </p:spTree>
    <p:extLst>
      <p:ext uri="{BB962C8B-B14F-4D97-AF65-F5344CB8AC3E}">
        <p14:creationId xmlns:p14="http://schemas.microsoft.com/office/powerpoint/2010/main" val="1892223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E2B8F4-FCA7-4EB7-B7B4-1D95C57F1E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58114" y="285854"/>
            <a:ext cx="1336606" cy="1336606"/>
          </a:xfrm>
          <a:prstGeom prst="rect">
            <a:avLst/>
          </a:prstGeom>
        </p:spPr>
      </p:pic>
      <p:sp>
        <p:nvSpPr>
          <p:cNvPr id="10" name="Rectangle 9">
            <a:extLst>
              <a:ext uri="{FF2B5EF4-FFF2-40B4-BE49-F238E27FC236}">
                <a16:creationId xmlns:a16="http://schemas.microsoft.com/office/drawing/2014/main" id="{BB382CDB-06AA-45A5-A279-15F8BEF9BBD1}"/>
              </a:ext>
            </a:extLst>
          </p:cNvPr>
          <p:cNvSpPr/>
          <p:nvPr/>
        </p:nvSpPr>
        <p:spPr>
          <a:xfrm>
            <a:off x="10426417" y="6382371"/>
            <a:ext cx="490329" cy="47562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a:t>
            </a:r>
          </a:p>
        </p:txBody>
      </p:sp>
      <p:pic>
        <p:nvPicPr>
          <p:cNvPr id="3" name="Picture 2">
            <a:extLst>
              <a:ext uri="{FF2B5EF4-FFF2-40B4-BE49-F238E27FC236}">
                <a16:creationId xmlns:a16="http://schemas.microsoft.com/office/drawing/2014/main" id="{3A281B38-A48D-DFEC-701E-38C68FD047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499652"/>
            <a:ext cx="902036" cy="812756"/>
          </a:xfrm>
          <a:prstGeom prst="rect">
            <a:avLst/>
          </a:prstGeom>
        </p:spPr>
      </p:pic>
      <p:sp>
        <p:nvSpPr>
          <p:cNvPr id="8" name="Title 7">
            <a:extLst>
              <a:ext uri="{FF2B5EF4-FFF2-40B4-BE49-F238E27FC236}">
                <a16:creationId xmlns:a16="http://schemas.microsoft.com/office/drawing/2014/main" id="{5C2F4AEE-E809-8250-104E-85080D10BACD}"/>
              </a:ext>
            </a:extLst>
          </p:cNvPr>
          <p:cNvSpPr>
            <a:spLocks noGrp="1"/>
          </p:cNvSpPr>
          <p:nvPr>
            <p:ph type="title"/>
          </p:nvPr>
        </p:nvSpPr>
        <p:spPr/>
        <p:txBody>
          <a:bodyPr/>
          <a:lstStyle/>
          <a:p>
            <a:r>
              <a:rPr lang="en-US" dirty="0"/>
              <a:t>INTRODUCTION</a:t>
            </a:r>
          </a:p>
        </p:txBody>
      </p:sp>
      <p:sp>
        <p:nvSpPr>
          <p:cNvPr id="2" name="TextBox 1">
            <a:extLst>
              <a:ext uri="{FF2B5EF4-FFF2-40B4-BE49-F238E27FC236}">
                <a16:creationId xmlns:a16="http://schemas.microsoft.com/office/drawing/2014/main" id="{DB84C648-9372-BA99-E861-DBEF333DDB28}"/>
              </a:ext>
            </a:extLst>
          </p:cNvPr>
          <p:cNvSpPr txBox="1"/>
          <p:nvPr/>
        </p:nvSpPr>
        <p:spPr>
          <a:xfrm>
            <a:off x="1205552" y="2156346"/>
            <a:ext cx="9571630" cy="397031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dirty="0"/>
              <a:t>As complexity of software development  is increasing, it has become difficult to ensure the quality of software. </a:t>
            </a:r>
          </a:p>
          <a:p>
            <a:pPr marL="285750" indent="-285750">
              <a:lnSpc>
                <a:spcPct val="150000"/>
              </a:lnSpc>
              <a:buFont typeface="Wingdings" panose="05000000000000000000" pitchFamily="2" charset="2"/>
              <a:buChar char="Ø"/>
            </a:pPr>
            <a:r>
              <a:rPr lang="en-US" dirty="0"/>
              <a:t>Early detection of defects can reduce time and cost of software development.</a:t>
            </a:r>
          </a:p>
          <a:p>
            <a:pPr marL="285750" indent="-285750">
              <a:lnSpc>
                <a:spcPct val="150000"/>
              </a:lnSpc>
              <a:buFont typeface="Wingdings" panose="05000000000000000000" pitchFamily="2" charset="2"/>
              <a:buChar char="Ø"/>
            </a:pPr>
            <a:r>
              <a:rPr lang="en-US" dirty="0"/>
              <a:t>SDP can help to ensure the quality of software as early detection of errors will help testers to concentrate the modules that require detailed testing</a:t>
            </a:r>
          </a:p>
          <a:p>
            <a:pPr marL="285750" indent="-285750">
              <a:lnSpc>
                <a:spcPct val="150000"/>
              </a:lnSpc>
              <a:buFont typeface="Wingdings" panose="05000000000000000000" pitchFamily="2" charset="2"/>
              <a:buChar char="Ø"/>
            </a:pPr>
            <a:r>
              <a:rPr lang="en-US" dirty="0"/>
              <a:t>ML can be used to predict the fault proneness in class level</a:t>
            </a:r>
          </a:p>
          <a:p>
            <a:pPr marL="285750" indent="-285750">
              <a:lnSpc>
                <a:spcPct val="150000"/>
              </a:lnSpc>
              <a:buFont typeface="Wingdings" panose="05000000000000000000" pitchFamily="2" charset="2"/>
              <a:buChar char="Ø"/>
            </a:pPr>
            <a:r>
              <a:rPr lang="en-US" dirty="0"/>
              <a:t>OO approach is used nowadays than procedural programming so ML techniques can be used to predict bugs in OO projects. </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p:txBody>
      </p:sp>
    </p:spTree>
    <p:extLst>
      <p:ext uri="{BB962C8B-B14F-4D97-AF65-F5344CB8AC3E}">
        <p14:creationId xmlns:p14="http://schemas.microsoft.com/office/powerpoint/2010/main" val="2727186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10D053-7F92-4320-A94C-334EE65D4F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8386" y="106018"/>
            <a:ext cx="1577009" cy="1577009"/>
          </a:xfrm>
          <a:prstGeom prst="rect">
            <a:avLst/>
          </a:prstGeom>
        </p:spPr>
      </p:pic>
      <p:sp>
        <p:nvSpPr>
          <p:cNvPr id="108" name="Rectangle 107">
            <a:extLst>
              <a:ext uri="{FF2B5EF4-FFF2-40B4-BE49-F238E27FC236}">
                <a16:creationId xmlns:a16="http://schemas.microsoft.com/office/drawing/2014/main" id="{E0926A12-7B0D-4B14-99A6-C93D538B3468}"/>
              </a:ext>
            </a:extLst>
          </p:cNvPr>
          <p:cNvSpPr/>
          <p:nvPr/>
        </p:nvSpPr>
        <p:spPr>
          <a:xfrm>
            <a:off x="10755821" y="6397486"/>
            <a:ext cx="530085" cy="4605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3</a:t>
            </a:r>
          </a:p>
        </p:txBody>
      </p:sp>
      <p:pic>
        <p:nvPicPr>
          <p:cNvPr id="3" name="Picture 2">
            <a:extLst>
              <a:ext uri="{FF2B5EF4-FFF2-40B4-BE49-F238E27FC236}">
                <a16:creationId xmlns:a16="http://schemas.microsoft.com/office/drawing/2014/main" id="{4B792AA9-ED64-F377-2C6C-336BF05CB3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458079"/>
            <a:ext cx="902036" cy="812756"/>
          </a:xfrm>
          <a:prstGeom prst="rect">
            <a:avLst/>
          </a:prstGeom>
        </p:spPr>
      </p:pic>
      <p:sp>
        <p:nvSpPr>
          <p:cNvPr id="8" name="Title 7">
            <a:extLst>
              <a:ext uri="{FF2B5EF4-FFF2-40B4-BE49-F238E27FC236}">
                <a16:creationId xmlns:a16="http://schemas.microsoft.com/office/drawing/2014/main" id="{05BD5CDC-1615-7FF2-1076-3F8B2F3875D3}"/>
              </a:ext>
            </a:extLst>
          </p:cNvPr>
          <p:cNvSpPr>
            <a:spLocks noGrp="1"/>
          </p:cNvSpPr>
          <p:nvPr>
            <p:ph type="title"/>
          </p:nvPr>
        </p:nvSpPr>
        <p:spPr/>
        <p:txBody>
          <a:bodyPr/>
          <a:lstStyle/>
          <a:p>
            <a:r>
              <a:rPr lang="en-US" dirty="0"/>
              <a:t>MOTIVATION</a:t>
            </a:r>
          </a:p>
        </p:txBody>
      </p:sp>
      <p:sp>
        <p:nvSpPr>
          <p:cNvPr id="2" name="TextBox 1">
            <a:extLst>
              <a:ext uri="{FF2B5EF4-FFF2-40B4-BE49-F238E27FC236}">
                <a16:creationId xmlns:a16="http://schemas.microsoft.com/office/drawing/2014/main" id="{A0E028A6-F9B7-8DC8-DC33-97F7D2991BAF}"/>
              </a:ext>
            </a:extLst>
          </p:cNvPr>
          <p:cNvSpPr txBox="1"/>
          <p:nvPr/>
        </p:nvSpPr>
        <p:spPr>
          <a:xfrm>
            <a:off x="1255594" y="2256430"/>
            <a:ext cx="9089409" cy="2862322"/>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dirty="0"/>
              <a:t>Testing every module consumes a lot of time and resources</a:t>
            </a:r>
          </a:p>
          <a:p>
            <a:pPr marL="285750" indent="-285750">
              <a:lnSpc>
                <a:spcPct val="150000"/>
              </a:lnSpc>
              <a:buFont typeface="Wingdings" panose="05000000000000000000" pitchFamily="2" charset="2"/>
              <a:buChar char="Ø"/>
            </a:pPr>
            <a:r>
              <a:rPr lang="en-US" dirty="0"/>
              <a:t>Applying same testing effort to all modules is not optimized since the distribution of defects is not uniform</a:t>
            </a:r>
          </a:p>
          <a:p>
            <a:pPr marL="285750" indent="-285750">
              <a:lnSpc>
                <a:spcPct val="150000"/>
              </a:lnSpc>
              <a:buFont typeface="Wingdings" panose="05000000000000000000" pitchFamily="2" charset="2"/>
              <a:buChar char="Ø"/>
            </a:pPr>
            <a:r>
              <a:rPr lang="en-US" dirty="0"/>
              <a:t>So testers should identify defect prone modules as early as possible and prioritize their testing effort</a:t>
            </a:r>
          </a:p>
          <a:p>
            <a:pPr marL="285750" indent="-285750">
              <a:lnSpc>
                <a:spcPct val="150000"/>
              </a:lnSpc>
              <a:buFont typeface="Wingdings" panose="05000000000000000000" pitchFamily="2" charset="2"/>
              <a:buChar char="Ø"/>
            </a:pPr>
            <a:r>
              <a:rPr lang="en-US" dirty="0"/>
              <a:t>So SDP can play an important role by identifying these errors early</a:t>
            </a:r>
          </a:p>
          <a:p>
            <a:pPr marL="285750" indent="-285750">
              <a:buFont typeface="Wingdings" panose="05000000000000000000" pitchFamily="2" charset="2"/>
              <a:buChar char="Ø"/>
            </a:pPr>
            <a:endParaRPr lang="en-US" dirty="0"/>
          </a:p>
        </p:txBody>
      </p:sp>
    </p:spTree>
    <p:extLst>
      <p:ext uri="{BB962C8B-B14F-4D97-AF65-F5344CB8AC3E}">
        <p14:creationId xmlns:p14="http://schemas.microsoft.com/office/powerpoint/2010/main" val="3339039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3A1EF-5717-465E-B82F-879811DE8126}"/>
              </a:ext>
            </a:extLst>
          </p:cNvPr>
          <p:cNvSpPr>
            <a:spLocks noGrp="1"/>
          </p:cNvSpPr>
          <p:nvPr>
            <p:ph type="title"/>
          </p:nvPr>
        </p:nvSpPr>
        <p:spPr>
          <a:xfrm>
            <a:off x="1097280" y="649357"/>
            <a:ext cx="4760181" cy="1088003"/>
          </a:xfrm>
        </p:spPr>
        <p:txBody>
          <a:bodyPr/>
          <a:lstStyle/>
          <a:p>
            <a:r>
              <a:rPr lang="en-US" b="1" dirty="0"/>
              <a:t>OBJECTIVE</a:t>
            </a:r>
          </a:p>
        </p:txBody>
      </p:sp>
      <p:pic>
        <p:nvPicPr>
          <p:cNvPr id="4" name="Picture 3">
            <a:extLst>
              <a:ext uri="{FF2B5EF4-FFF2-40B4-BE49-F238E27FC236}">
                <a16:creationId xmlns:a16="http://schemas.microsoft.com/office/drawing/2014/main" id="{29CDEA8C-3C25-41D2-9BBA-DCD23BADA2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16240" y="167334"/>
            <a:ext cx="1450758" cy="1450758"/>
          </a:xfrm>
          <a:prstGeom prst="rect">
            <a:avLst/>
          </a:prstGeom>
        </p:spPr>
      </p:pic>
      <p:sp>
        <p:nvSpPr>
          <p:cNvPr id="10" name="Rectangle 9">
            <a:extLst>
              <a:ext uri="{FF2B5EF4-FFF2-40B4-BE49-F238E27FC236}">
                <a16:creationId xmlns:a16="http://schemas.microsoft.com/office/drawing/2014/main" id="{4DA30BF8-6A24-4D33-A196-95A8D9828D37}"/>
              </a:ext>
            </a:extLst>
          </p:cNvPr>
          <p:cNvSpPr/>
          <p:nvPr/>
        </p:nvSpPr>
        <p:spPr>
          <a:xfrm>
            <a:off x="10276575" y="6400800"/>
            <a:ext cx="530087" cy="457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4</a:t>
            </a:r>
          </a:p>
        </p:txBody>
      </p:sp>
      <p:pic>
        <p:nvPicPr>
          <p:cNvPr id="3" name="Picture 2">
            <a:extLst>
              <a:ext uri="{FF2B5EF4-FFF2-40B4-BE49-F238E27FC236}">
                <a16:creationId xmlns:a16="http://schemas.microsoft.com/office/drawing/2014/main" id="{54AD7EDB-442E-2FD3-3562-D2CC7B3472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499652"/>
            <a:ext cx="902036" cy="812756"/>
          </a:xfrm>
          <a:prstGeom prst="rect">
            <a:avLst/>
          </a:prstGeom>
        </p:spPr>
      </p:pic>
      <p:sp>
        <p:nvSpPr>
          <p:cNvPr id="5" name="TextBox 4">
            <a:extLst>
              <a:ext uri="{FF2B5EF4-FFF2-40B4-BE49-F238E27FC236}">
                <a16:creationId xmlns:a16="http://schemas.microsoft.com/office/drawing/2014/main" id="{5506DB40-A096-FAEB-3257-DA9CA18951CA}"/>
              </a:ext>
            </a:extLst>
          </p:cNvPr>
          <p:cNvSpPr txBox="1"/>
          <p:nvPr/>
        </p:nvSpPr>
        <p:spPr>
          <a:xfrm>
            <a:off x="1228299" y="2265528"/>
            <a:ext cx="9403307" cy="2652008"/>
          </a:xfrm>
          <a:prstGeom prst="rect">
            <a:avLst/>
          </a:prstGeom>
          <a:noFill/>
        </p:spPr>
        <p:txBody>
          <a:bodyPr wrap="square" rtlCol="0">
            <a:spAutoFit/>
          </a:bodyPr>
          <a:lstStyle/>
          <a:p>
            <a:pPr marL="0" marR="0" algn="just">
              <a:lnSpc>
                <a:spcPct val="150000"/>
              </a:lnSpc>
              <a:spcBef>
                <a:spcPts val="0"/>
              </a:spcBef>
              <a:spcAft>
                <a:spcPts val="0"/>
              </a:spcAft>
            </a:pPr>
            <a:r>
              <a:rPr lang="en-AU" sz="1800" dirty="0">
                <a:effectLst/>
                <a:ea typeface="Times New Roman" panose="02020603050405020304" pitchFamily="18" charset="0"/>
              </a:rPr>
              <a:t>This research is focused to develop a model for software defect prediction using object-oriented metrics. </a:t>
            </a:r>
            <a:endParaRPr lang="en-US" sz="1800" dirty="0">
              <a:effectLst/>
              <a:ea typeface="Times New Roman" panose="02020603050405020304" pitchFamily="18" charset="0"/>
            </a:endParaRPr>
          </a:p>
          <a:p>
            <a:pPr marL="342900" marR="0" lvl="0" indent="-342900" algn="just">
              <a:lnSpc>
                <a:spcPct val="150000"/>
              </a:lnSpc>
              <a:spcBef>
                <a:spcPts val="0"/>
              </a:spcBef>
              <a:spcAft>
                <a:spcPts val="0"/>
              </a:spcAft>
              <a:buFont typeface="Wingdings" panose="05000000000000000000" pitchFamily="2" charset="2"/>
              <a:buChar char="Ø"/>
            </a:pPr>
            <a:r>
              <a:rPr lang="en-US" dirty="0">
                <a:ea typeface="Calibri" panose="020F0502020204030204" pitchFamily="34" charset="0"/>
              </a:rPr>
              <a:t>Assure software quality</a:t>
            </a:r>
            <a:endParaRPr lang="en-US" sz="1800" dirty="0">
              <a:effectLst/>
              <a:ea typeface="Calibri" panose="020F0502020204030204" pitchFamily="34" charset="0"/>
            </a:endParaRPr>
          </a:p>
          <a:p>
            <a:pPr marL="342900" marR="0" lvl="0" indent="-342900" algn="just">
              <a:lnSpc>
                <a:spcPct val="150000"/>
              </a:lnSpc>
              <a:spcBef>
                <a:spcPts val="0"/>
              </a:spcBef>
              <a:spcAft>
                <a:spcPts val="800"/>
              </a:spcAft>
              <a:buFont typeface="Wingdings" panose="05000000000000000000" pitchFamily="2" charset="2"/>
              <a:buChar char="Ø"/>
            </a:pPr>
            <a:r>
              <a:rPr lang="en-US" sz="1800" dirty="0">
                <a:effectLst/>
                <a:ea typeface="Calibri" panose="020F0502020204030204" pitchFamily="34" charset="0"/>
              </a:rPr>
              <a:t>Reduce the number of bugs by giving extensive testing to modules</a:t>
            </a:r>
          </a:p>
          <a:p>
            <a:pPr marL="342900" marR="0" lvl="0" indent="-342900" algn="just">
              <a:lnSpc>
                <a:spcPct val="150000"/>
              </a:lnSpc>
              <a:spcBef>
                <a:spcPts val="0"/>
              </a:spcBef>
              <a:spcAft>
                <a:spcPts val="800"/>
              </a:spcAft>
              <a:buFont typeface="Wingdings" panose="05000000000000000000" pitchFamily="2" charset="2"/>
              <a:buChar char="Ø"/>
            </a:pPr>
            <a:r>
              <a:rPr lang="en-US" sz="1800" dirty="0">
                <a:effectLst/>
                <a:ea typeface="Calibri" panose="020F0502020204030204" pitchFamily="34" charset="0"/>
              </a:rPr>
              <a:t>Exploring the relation of various OO metrics with bugs.</a:t>
            </a:r>
          </a:p>
          <a:p>
            <a:endParaRPr lang="en-US" dirty="0"/>
          </a:p>
        </p:txBody>
      </p:sp>
    </p:spTree>
    <p:extLst>
      <p:ext uri="{BB962C8B-B14F-4D97-AF65-F5344CB8AC3E}">
        <p14:creationId xmlns:p14="http://schemas.microsoft.com/office/powerpoint/2010/main" val="2042307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A67BD-139A-4ADB-8F59-BDAF15B902F5}"/>
              </a:ext>
            </a:extLst>
          </p:cNvPr>
          <p:cNvSpPr>
            <a:spLocks noGrp="1"/>
          </p:cNvSpPr>
          <p:nvPr>
            <p:ph type="title"/>
          </p:nvPr>
        </p:nvSpPr>
        <p:spPr/>
        <p:txBody>
          <a:bodyPr/>
          <a:lstStyle/>
          <a:p>
            <a:r>
              <a:rPr lang="en-US" b="1" dirty="0"/>
              <a:t>RESEARCH QUESTION</a:t>
            </a:r>
            <a:endParaRPr lang="en-US" dirty="0"/>
          </a:p>
        </p:txBody>
      </p:sp>
      <p:pic>
        <p:nvPicPr>
          <p:cNvPr id="13" name="Picture 12">
            <a:extLst>
              <a:ext uri="{FF2B5EF4-FFF2-40B4-BE49-F238E27FC236}">
                <a16:creationId xmlns:a16="http://schemas.microsoft.com/office/drawing/2014/main" id="{14088337-5CDA-4412-B285-2EFF7E6274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9608" y="179135"/>
            <a:ext cx="1444837" cy="1450757"/>
          </a:xfrm>
          <a:prstGeom prst="rect">
            <a:avLst/>
          </a:prstGeom>
        </p:spPr>
      </p:pic>
      <p:sp>
        <p:nvSpPr>
          <p:cNvPr id="16" name="Rectangle 15">
            <a:extLst>
              <a:ext uri="{FF2B5EF4-FFF2-40B4-BE49-F238E27FC236}">
                <a16:creationId xmlns:a16="http://schemas.microsoft.com/office/drawing/2014/main" id="{7349FA66-719F-4DE6-8347-53D62AEA00FE}"/>
              </a:ext>
            </a:extLst>
          </p:cNvPr>
          <p:cNvSpPr/>
          <p:nvPr/>
        </p:nvSpPr>
        <p:spPr>
          <a:xfrm>
            <a:off x="10036112" y="6361639"/>
            <a:ext cx="536689" cy="49636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a:t>
            </a:r>
          </a:p>
        </p:txBody>
      </p:sp>
      <p:pic>
        <p:nvPicPr>
          <p:cNvPr id="3" name="Picture 2">
            <a:extLst>
              <a:ext uri="{FF2B5EF4-FFF2-40B4-BE49-F238E27FC236}">
                <a16:creationId xmlns:a16="http://schemas.microsoft.com/office/drawing/2014/main" id="{A39D8F1B-030C-FCF7-6A7E-74089D8DB6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499652"/>
            <a:ext cx="902036" cy="812756"/>
          </a:xfrm>
          <a:prstGeom prst="rect">
            <a:avLst/>
          </a:prstGeom>
        </p:spPr>
      </p:pic>
      <p:sp>
        <p:nvSpPr>
          <p:cNvPr id="4" name="TextBox 3">
            <a:extLst>
              <a:ext uri="{FF2B5EF4-FFF2-40B4-BE49-F238E27FC236}">
                <a16:creationId xmlns:a16="http://schemas.microsoft.com/office/drawing/2014/main" id="{DCCEBFD7-FDB3-5D52-EB5A-8D26F56BF609}"/>
              </a:ext>
            </a:extLst>
          </p:cNvPr>
          <p:cNvSpPr txBox="1"/>
          <p:nvPr/>
        </p:nvSpPr>
        <p:spPr>
          <a:xfrm>
            <a:off x="1264693" y="2097206"/>
            <a:ext cx="8720919" cy="3391698"/>
          </a:xfrm>
          <a:prstGeom prst="rect">
            <a:avLst/>
          </a:prstGeom>
          <a:noFill/>
        </p:spPr>
        <p:txBody>
          <a:bodyPr wrap="square" rtlCol="0">
            <a:spAutoFit/>
          </a:bodyPr>
          <a:lstStyle/>
          <a:p>
            <a:pPr marL="304800" marR="0" algn="just">
              <a:spcBef>
                <a:spcPts val="0"/>
              </a:spcBef>
              <a:spcAft>
                <a:spcPts val="0"/>
              </a:spcAft>
            </a:pPr>
            <a:r>
              <a:rPr lang="en-AU" sz="1800" dirty="0">
                <a:effectLst/>
                <a:ea typeface="Times New Roman" panose="02020603050405020304" pitchFamily="18" charset="0"/>
              </a:rPr>
              <a:t>The primary goal of this research is to build a bug prediction model based on different metrics and compare different ML methods. In this paper the following research questions has been addressed:</a:t>
            </a:r>
            <a:endParaRPr lang="en-US" sz="1800" dirty="0">
              <a:effectLst/>
              <a:ea typeface="Times New Roman" panose="02020603050405020304" pitchFamily="18" charset="0"/>
            </a:endParaRPr>
          </a:p>
          <a:p>
            <a:pPr marL="0" marR="0">
              <a:spcBef>
                <a:spcPts val="0"/>
              </a:spcBef>
              <a:spcAft>
                <a:spcPts val="0"/>
              </a:spcAft>
            </a:pPr>
            <a:r>
              <a:rPr lang="en-US" sz="1800" dirty="0">
                <a:effectLst/>
                <a:ea typeface="Calibri" panose="020F0502020204030204" pitchFamily="34" charset="0"/>
                <a:cs typeface="Times New Roman" panose="02020603050405020304" pitchFamily="18" charset="0"/>
              </a:rPr>
              <a:t>          </a:t>
            </a:r>
          </a:p>
          <a:p>
            <a:pPr marL="285750" marR="0" lvl="0" indent="-285750" algn="just">
              <a:lnSpc>
                <a:spcPct val="107000"/>
              </a:lnSpc>
              <a:spcBef>
                <a:spcPts val="0"/>
              </a:spcBef>
              <a:spcAft>
                <a:spcPts val="800"/>
              </a:spcAft>
              <a:buSzPts val="1200"/>
              <a:buFont typeface="Wingdings" panose="05000000000000000000" pitchFamily="2" charset="2"/>
              <a:buChar char="Ø"/>
            </a:pPr>
            <a:r>
              <a:rPr lang="en-AU" sz="1800" dirty="0">
                <a:effectLst/>
                <a:ea typeface="Times New Roman" panose="02020603050405020304" pitchFamily="18" charset="0"/>
              </a:rPr>
              <a:t>How different metrics can give accuracy for models and which outperforms most for finding bugs?</a:t>
            </a:r>
            <a:endParaRPr lang="en-US" sz="1800" dirty="0">
              <a:effectLst/>
              <a:ea typeface="Times New Roman" panose="02020603050405020304" pitchFamily="18" charset="0"/>
            </a:endParaRPr>
          </a:p>
          <a:p>
            <a:pPr marL="285750" marR="0" lvl="0" indent="-285750" algn="just">
              <a:lnSpc>
                <a:spcPct val="107000"/>
              </a:lnSpc>
              <a:spcBef>
                <a:spcPts val="0"/>
              </a:spcBef>
              <a:spcAft>
                <a:spcPts val="800"/>
              </a:spcAft>
              <a:buSzPts val="1200"/>
              <a:buFont typeface="Wingdings" panose="05000000000000000000" pitchFamily="2" charset="2"/>
              <a:buChar char="Ø"/>
            </a:pPr>
            <a:r>
              <a:rPr lang="en-AU" sz="1800" dirty="0">
                <a:effectLst/>
                <a:ea typeface="Times New Roman" panose="02020603050405020304" pitchFamily="18" charset="0"/>
              </a:rPr>
              <a:t>Are the results accurate enough to apply this process in actual software projects?</a:t>
            </a:r>
          </a:p>
          <a:p>
            <a:pPr marL="285750" indent="-285750" algn="just">
              <a:lnSpc>
                <a:spcPct val="107000"/>
              </a:lnSpc>
              <a:spcAft>
                <a:spcPts val="800"/>
              </a:spcAft>
              <a:buSzPts val="1200"/>
              <a:buFont typeface="Wingdings" panose="05000000000000000000" pitchFamily="2" charset="2"/>
              <a:buChar char="Ø"/>
            </a:pPr>
            <a:r>
              <a:rPr lang="en-AU" sz="1800" dirty="0">
                <a:effectLst/>
                <a:latin typeface="Times New Roman" panose="02020603050405020304" pitchFamily="18" charset="0"/>
                <a:ea typeface="Times New Roman" panose="02020603050405020304" pitchFamily="18" charset="0"/>
              </a:rPr>
              <a:t>Which OO metrics are good predictor?</a:t>
            </a:r>
            <a:endParaRPr lang="en-US" sz="1800" dirty="0">
              <a:effectLst/>
              <a:latin typeface="Times New Roman" panose="02020603050405020304" pitchFamily="18" charset="0"/>
              <a:ea typeface="Times New Roman" panose="02020603050405020304" pitchFamily="18" charset="0"/>
            </a:endParaRPr>
          </a:p>
          <a:p>
            <a:pPr marR="0" lvl="0" algn="just">
              <a:lnSpc>
                <a:spcPct val="107000"/>
              </a:lnSpc>
              <a:spcBef>
                <a:spcPts val="0"/>
              </a:spcBef>
              <a:spcAft>
                <a:spcPts val="800"/>
              </a:spcAft>
              <a:buSzPts val="1200"/>
            </a:pPr>
            <a:endParaRPr lang="en-US" sz="1800" dirty="0">
              <a:effectLst/>
              <a:ea typeface="Times New Roman" panose="02020603050405020304" pitchFamily="18" charset="0"/>
            </a:endParaRPr>
          </a:p>
          <a:p>
            <a:endParaRPr lang="en-US" dirty="0"/>
          </a:p>
        </p:txBody>
      </p:sp>
    </p:spTree>
    <p:extLst>
      <p:ext uri="{BB962C8B-B14F-4D97-AF65-F5344CB8AC3E}">
        <p14:creationId xmlns:p14="http://schemas.microsoft.com/office/powerpoint/2010/main" val="3008990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DACA5-B84C-451E-AC2F-ABAC98CB3EC5}"/>
              </a:ext>
            </a:extLst>
          </p:cNvPr>
          <p:cNvSpPr>
            <a:spLocks noGrp="1"/>
          </p:cNvSpPr>
          <p:nvPr>
            <p:ph type="title"/>
          </p:nvPr>
        </p:nvSpPr>
        <p:spPr/>
        <p:txBody>
          <a:bodyPr/>
          <a:lstStyle/>
          <a:p>
            <a:r>
              <a:rPr lang="en-US" b="1" dirty="0"/>
              <a:t>LITERATURE REVIEW</a:t>
            </a:r>
            <a:endParaRPr lang="en-US" dirty="0"/>
          </a:p>
        </p:txBody>
      </p:sp>
      <p:pic>
        <p:nvPicPr>
          <p:cNvPr id="4" name="Picture 3">
            <a:extLst>
              <a:ext uri="{FF2B5EF4-FFF2-40B4-BE49-F238E27FC236}">
                <a16:creationId xmlns:a16="http://schemas.microsoft.com/office/drawing/2014/main" id="{80EA561C-BF14-4E23-83EB-38224784B3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7871" y="192211"/>
            <a:ext cx="1450758" cy="1450758"/>
          </a:xfrm>
          <a:prstGeom prst="rect">
            <a:avLst/>
          </a:prstGeom>
        </p:spPr>
      </p:pic>
      <p:sp>
        <p:nvSpPr>
          <p:cNvPr id="9" name="Rectangle 8">
            <a:extLst>
              <a:ext uri="{FF2B5EF4-FFF2-40B4-BE49-F238E27FC236}">
                <a16:creationId xmlns:a16="http://schemas.microsoft.com/office/drawing/2014/main" id="{9FCFDBFC-27B5-47FF-88C5-CA4569ADF0C4}"/>
              </a:ext>
            </a:extLst>
          </p:cNvPr>
          <p:cNvSpPr/>
          <p:nvPr/>
        </p:nvSpPr>
        <p:spPr>
          <a:xfrm>
            <a:off x="10068871" y="6379598"/>
            <a:ext cx="583095" cy="4784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6</a:t>
            </a:r>
          </a:p>
        </p:txBody>
      </p:sp>
      <p:pic>
        <p:nvPicPr>
          <p:cNvPr id="3" name="Picture 2">
            <a:extLst>
              <a:ext uri="{FF2B5EF4-FFF2-40B4-BE49-F238E27FC236}">
                <a16:creationId xmlns:a16="http://schemas.microsoft.com/office/drawing/2014/main" id="{9E12FF18-04F1-F765-23F0-AA7164E2E1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499652"/>
            <a:ext cx="902036" cy="812756"/>
          </a:xfrm>
          <a:prstGeom prst="rect">
            <a:avLst/>
          </a:prstGeom>
        </p:spPr>
      </p:pic>
      <p:sp>
        <p:nvSpPr>
          <p:cNvPr id="5" name="TextBox 4">
            <a:extLst>
              <a:ext uri="{FF2B5EF4-FFF2-40B4-BE49-F238E27FC236}">
                <a16:creationId xmlns:a16="http://schemas.microsoft.com/office/drawing/2014/main" id="{9C71441E-4F7D-C94B-0059-1DABA488CA5F}"/>
              </a:ext>
            </a:extLst>
          </p:cNvPr>
          <p:cNvSpPr txBox="1"/>
          <p:nvPr/>
        </p:nvSpPr>
        <p:spPr>
          <a:xfrm>
            <a:off x="1391478" y="2040835"/>
            <a:ext cx="5338577" cy="646331"/>
          </a:xfrm>
          <a:prstGeom prst="rect">
            <a:avLst/>
          </a:prstGeom>
          <a:noFill/>
        </p:spPr>
        <p:txBody>
          <a:bodyPr wrap="none" rtlCol="0">
            <a:spAutoFit/>
          </a:bodyPr>
          <a:lstStyle/>
          <a:p>
            <a:r>
              <a:rPr lang="en-US" b="1" dirty="0"/>
              <a:t>Software bug prediction using object-oriented metrics</a:t>
            </a:r>
          </a:p>
          <a:p>
            <a:r>
              <a:rPr lang="en-US" dirty="0"/>
              <a:t>Author- </a:t>
            </a:r>
            <a:r>
              <a:rPr lang="en-US" sz="1800" dirty="0">
                <a:effectLst/>
                <a:latin typeface="Calibri" panose="020F0502020204030204" pitchFamily="34" charset="0"/>
                <a:ea typeface="Calibri" panose="020F0502020204030204" pitchFamily="34" charset="0"/>
                <a:cs typeface="Times New Roman" panose="02020603050405020304" pitchFamily="18" charset="0"/>
              </a:rPr>
              <a:t>Dharmendra Lal Gupta </a:t>
            </a:r>
            <a:r>
              <a:rPr lang="en-US" dirty="0"/>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Kavita Saxena </a:t>
            </a:r>
            <a:endParaRPr lang="en-US" dirty="0"/>
          </a:p>
        </p:txBody>
      </p:sp>
      <p:sp>
        <p:nvSpPr>
          <p:cNvPr id="6" name="TextBox 5">
            <a:extLst>
              <a:ext uri="{FF2B5EF4-FFF2-40B4-BE49-F238E27FC236}">
                <a16:creationId xmlns:a16="http://schemas.microsoft.com/office/drawing/2014/main" id="{9B5D2013-381D-93B9-6E30-7173987B7003}"/>
              </a:ext>
            </a:extLst>
          </p:cNvPr>
          <p:cNvSpPr txBox="1"/>
          <p:nvPr/>
        </p:nvSpPr>
        <p:spPr>
          <a:xfrm>
            <a:off x="1317088" y="2831615"/>
            <a:ext cx="8480783" cy="1891287"/>
          </a:xfrm>
          <a:prstGeom prst="rect">
            <a:avLst/>
          </a:prstGeom>
          <a:noFill/>
        </p:spPr>
        <p:txBody>
          <a:bodyPr wrap="none" rtlCol="0">
            <a:spAutoFit/>
          </a:bodyPr>
          <a:lstStyle/>
          <a:p>
            <a:pPr marL="342900" indent="-342900">
              <a:lnSpc>
                <a:spcPct val="150000"/>
              </a:lnSpc>
              <a:buFont typeface="Wingdings" panose="05000000000000000000" pitchFamily="2" charset="2"/>
              <a:buChar char="Ø"/>
            </a:pPr>
            <a:r>
              <a:rPr lang="en-US" sz="2000" dirty="0"/>
              <a:t>A model for Object-oriented software bug prediction system was developed.</a:t>
            </a:r>
          </a:p>
          <a:p>
            <a:pPr marL="342900" indent="-342900">
              <a:lnSpc>
                <a:spcPct val="150000"/>
              </a:lnSpc>
              <a:buFont typeface="Wingdings" panose="05000000000000000000" pitchFamily="2" charset="2"/>
              <a:buChar char="Ø"/>
            </a:pPr>
            <a:r>
              <a:rPr lang="en-US" sz="2000" dirty="0"/>
              <a:t>They used some open source projects like Tomcat 6.0, e-learning, </a:t>
            </a:r>
            <a:r>
              <a:rPr lang="en-US" sz="2000" dirty="0" err="1"/>
              <a:t>Zuzel</a:t>
            </a:r>
            <a:r>
              <a:rPr lang="en-US" sz="2000" dirty="0"/>
              <a:t> etc.</a:t>
            </a:r>
          </a:p>
          <a:p>
            <a:pPr marL="342900" indent="-342900">
              <a:lnSpc>
                <a:spcPct val="150000"/>
              </a:lnSpc>
              <a:buFont typeface="Wingdings" panose="05000000000000000000" pitchFamily="2" charset="2"/>
              <a:buChar char="Ø"/>
            </a:pPr>
            <a:r>
              <a:rPr lang="en-US" sz="2000" dirty="0"/>
              <a:t>14 metrics have been selected for model creation</a:t>
            </a:r>
          </a:p>
          <a:p>
            <a:pPr marL="342900" indent="-342900">
              <a:lnSpc>
                <a:spcPct val="150000"/>
              </a:lnSpc>
              <a:buFont typeface="Wingdings" panose="05000000000000000000" pitchFamily="2" charset="2"/>
              <a:buChar char="Ø"/>
            </a:pPr>
            <a:r>
              <a:rPr lang="en-US" sz="2000" dirty="0"/>
              <a:t>The model contains an average accuracy of 76.27%  </a:t>
            </a:r>
          </a:p>
        </p:txBody>
      </p:sp>
    </p:spTree>
    <p:extLst>
      <p:ext uri="{BB962C8B-B14F-4D97-AF65-F5344CB8AC3E}">
        <p14:creationId xmlns:p14="http://schemas.microsoft.com/office/powerpoint/2010/main" val="1884008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DACA5-B84C-451E-AC2F-ABAC98CB3EC5}"/>
              </a:ext>
            </a:extLst>
          </p:cNvPr>
          <p:cNvSpPr>
            <a:spLocks noGrp="1"/>
          </p:cNvSpPr>
          <p:nvPr>
            <p:ph type="title"/>
          </p:nvPr>
        </p:nvSpPr>
        <p:spPr/>
        <p:txBody>
          <a:bodyPr/>
          <a:lstStyle/>
          <a:p>
            <a:r>
              <a:rPr lang="en-US" b="1" dirty="0"/>
              <a:t>LITERATURE REVIEW</a:t>
            </a:r>
            <a:endParaRPr lang="en-US" dirty="0"/>
          </a:p>
        </p:txBody>
      </p:sp>
      <p:pic>
        <p:nvPicPr>
          <p:cNvPr id="4" name="Picture 3">
            <a:extLst>
              <a:ext uri="{FF2B5EF4-FFF2-40B4-BE49-F238E27FC236}">
                <a16:creationId xmlns:a16="http://schemas.microsoft.com/office/drawing/2014/main" id="{80EA561C-BF14-4E23-83EB-38224784B3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7871" y="192211"/>
            <a:ext cx="1450758" cy="1450758"/>
          </a:xfrm>
          <a:prstGeom prst="rect">
            <a:avLst/>
          </a:prstGeom>
        </p:spPr>
      </p:pic>
      <p:sp>
        <p:nvSpPr>
          <p:cNvPr id="9" name="Rectangle 8">
            <a:extLst>
              <a:ext uri="{FF2B5EF4-FFF2-40B4-BE49-F238E27FC236}">
                <a16:creationId xmlns:a16="http://schemas.microsoft.com/office/drawing/2014/main" id="{9FCFDBFC-27B5-47FF-88C5-CA4569ADF0C4}"/>
              </a:ext>
            </a:extLst>
          </p:cNvPr>
          <p:cNvSpPr/>
          <p:nvPr/>
        </p:nvSpPr>
        <p:spPr>
          <a:xfrm>
            <a:off x="10389705" y="6379598"/>
            <a:ext cx="583095" cy="4784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7</a:t>
            </a:r>
          </a:p>
        </p:txBody>
      </p:sp>
      <p:pic>
        <p:nvPicPr>
          <p:cNvPr id="3" name="Picture 2">
            <a:extLst>
              <a:ext uri="{FF2B5EF4-FFF2-40B4-BE49-F238E27FC236}">
                <a16:creationId xmlns:a16="http://schemas.microsoft.com/office/drawing/2014/main" id="{9E12FF18-04F1-F765-23F0-AA7164E2E1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499652"/>
            <a:ext cx="902036" cy="812756"/>
          </a:xfrm>
          <a:prstGeom prst="rect">
            <a:avLst/>
          </a:prstGeom>
        </p:spPr>
      </p:pic>
      <p:sp>
        <p:nvSpPr>
          <p:cNvPr id="5" name="TextBox 4">
            <a:extLst>
              <a:ext uri="{FF2B5EF4-FFF2-40B4-BE49-F238E27FC236}">
                <a16:creationId xmlns:a16="http://schemas.microsoft.com/office/drawing/2014/main" id="{9C71441E-4F7D-C94B-0059-1DABA488CA5F}"/>
              </a:ext>
            </a:extLst>
          </p:cNvPr>
          <p:cNvSpPr txBox="1"/>
          <p:nvPr/>
        </p:nvSpPr>
        <p:spPr>
          <a:xfrm>
            <a:off x="1391480" y="1889097"/>
            <a:ext cx="9250018" cy="923330"/>
          </a:xfrm>
          <a:prstGeom prst="rect">
            <a:avLst/>
          </a:prstGeom>
          <a:noFill/>
        </p:spPr>
        <p:txBody>
          <a:bodyPr wrap="square" rtlCol="0">
            <a:spAutoFit/>
          </a:bodyPr>
          <a:lstStyle/>
          <a:p>
            <a:r>
              <a:rPr lang="en-US" b="1" dirty="0"/>
              <a:t>Software fault prediction based on the dynamic selection of learning technique: findings from the eclipse project study</a:t>
            </a:r>
          </a:p>
          <a:p>
            <a:r>
              <a:rPr lang="en-US" dirty="0"/>
              <a:t>Author- Santosh S. Rathore, Sandeep Kumar</a:t>
            </a:r>
          </a:p>
        </p:txBody>
      </p:sp>
      <p:sp>
        <p:nvSpPr>
          <p:cNvPr id="6" name="TextBox 5">
            <a:extLst>
              <a:ext uri="{FF2B5EF4-FFF2-40B4-BE49-F238E27FC236}">
                <a16:creationId xmlns:a16="http://schemas.microsoft.com/office/drawing/2014/main" id="{9B5D2013-381D-93B9-6E30-7173987B7003}"/>
              </a:ext>
            </a:extLst>
          </p:cNvPr>
          <p:cNvSpPr txBox="1"/>
          <p:nvPr/>
        </p:nvSpPr>
        <p:spPr>
          <a:xfrm>
            <a:off x="1391480" y="2959841"/>
            <a:ext cx="9699568" cy="3276282"/>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2000" dirty="0"/>
              <a:t>An approach is made based on a set of competitive and accurate learning techniques for building a fault prediction model.</a:t>
            </a:r>
          </a:p>
          <a:p>
            <a:pPr marL="342900" indent="-342900">
              <a:lnSpc>
                <a:spcPct val="150000"/>
              </a:lnSpc>
              <a:buFont typeface="Wingdings" panose="05000000000000000000" pitchFamily="2" charset="2"/>
              <a:buChar char="Ø"/>
            </a:pPr>
            <a:r>
              <a:rPr lang="en-US" sz="2000" dirty="0"/>
              <a:t>Nine Object-oriented (OO) project datasets has been selected.</a:t>
            </a:r>
          </a:p>
          <a:p>
            <a:pPr marL="342900" indent="-342900">
              <a:lnSpc>
                <a:spcPct val="150000"/>
              </a:lnSpc>
              <a:buFont typeface="Wingdings" panose="05000000000000000000" pitchFamily="2" charset="2"/>
              <a:buChar char="Ø"/>
            </a:pPr>
            <a:r>
              <a:rPr lang="en-US" sz="2000" dirty="0"/>
              <a:t>Naïve Bayes, Logistic Regression and K-Nearest Neighbor has been selected for the analysis.</a:t>
            </a:r>
          </a:p>
          <a:p>
            <a:pPr marL="342900" indent="-342900">
              <a:lnSpc>
                <a:spcPct val="150000"/>
              </a:lnSpc>
              <a:buFont typeface="Wingdings" panose="05000000000000000000" pitchFamily="2" charset="2"/>
              <a:buChar char="Ø"/>
            </a:pPr>
            <a:r>
              <a:rPr lang="en-US" sz="2000" dirty="0"/>
              <a:t>Performance was based on AUC and the values were above or equal to 0.60 for all the cases. </a:t>
            </a:r>
          </a:p>
        </p:txBody>
      </p:sp>
    </p:spTree>
    <p:extLst>
      <p:ext uri="{BB962C8B-B14F-4D97-AF65-F5344CB8AC3E}">
        <p14:creationId xmlns:p14="http://schemas.microsoft.com/office/powerpoint/2010/main" val="1284405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DACA5-B84C-451E-AC2F-ABAC98CB3EC5}"/>
              </a:ext>
            </a:extLst>
          </p:cNvPr>
          <p:cNvSpPr>
            <a:spLocks noGrp="1"/>
          </p:cNvSpPr>
          <p:nvPr>
            <p:ph type="title"/>
          </p:nvPr>
        </p:nvSpPr>
        <p:spPr/>
        <p:txBody>
          <a:bodyPr/>
          <a:lstStyle/>
          <a:p>
            <a:r>
              <a:rPr lang="en-US" b="1" dirty="0"/>
              <a:t>LITERATURE REVIEW</a:t>
            </a:r>
            <a:endParaRPr lang="en-US" dirty="0"/>
          </a:p>
        </p:txBody>
      </p:sp>
      <p:pic>
        <p:nvPicPr>
          <p:cNvPr id="4" name="Picture 3">
            <a:extLst>
              <a:ext uri="{FF2B5EF4-FFF2-40B4-BE49-F238E27FC236}">
                <a16:creationId xmlns:a16="http://schemas.microsoft.com/office/drawing/2014/main" id="{80EA561C-BF14-4E23-83EB-38224784B3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7871" y="192211"/>
            <a:ext cx="1450758" cy="1450758"/>
          </a:xfrm>
          <a:prstGeom prst="rect">
            <a:avLst/>
          </a:prstGeom>
        </p:spPr>
      </p:pic>
      <p:sp>
        <p:nvSpPr>
          <p:cNvPr id="9" name="Rectangle 8">
            <a:extLst>
              <a:ext uri="{FF2B5EF4-FFF2-40B4-BE49-F238E27FC236}">
                <a16:creationId xmlns:a16="http://schemas.microsoft.com/office/drawing/2014/main" id="{9FCFDBFC-27B5-47FF-88C5-CA4569ADF0C4}"/>
              </a:ext>
            </a:extLst>
          </p:cNvPr>
          <p:cNvSpPr/>
          <p:nvPr/>
        </p:nvSpPr>
        <p:spPr>
          <a:xfrm>
            <a:off x="10389705" y="6379598"/>
            <a:ext cx="583095" cy="4784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8</a:t>
            </a:r>
          </a:p>
        </p:txBody>
      </p:sp>
      <p:pic>
        <p:nvPicPr>
          <p:cNvPr id="3" name="Picture 2">
            <a:extLst>
              <a:ext uri="{FF2B5EF4-FFF2-40B4-BE49-F238E27FC236}">
                <a16:creationId xmlns:a16="http://schemas.microsoft.com/office/drawing/2014/main" id="{9E12FF18-04F1-F765-23F0-AA7164E2E1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499652"/>
            <a:ext cx="902036" cy="812756"/>
          </a:xfrm>
          <a:prstGeom prst="rect">
            <a:avLst/>
          </a:prstGeom>
        </p:spPr>
      </p:pic>
      <p:sp>
        <p:nvSpPr>
          <p:cNvPr id="5" name="TextBox 4">
            <a:extLst>
              <a:ext uri="{FF2B5EF4-FFF2-40B4-BE49-F238E27FC236}">
                <a16:creationId xmlns:a16="http://schemas.microsoft.com/office/drawing/2014/main" id="{9C71441E-4F7D-C94B-0059-1DABA488CA5F}"/>
              </a:ext>
            </a:extLst>
          </p:cNvPr>
          <p:cNvSpPr txBox="1"/>
          <p:nvPr/>
        </p:nvSpPr>
        <p:spPr>
          <a:xfrm>
            <a:off x="1391479" y="2040835"/>
            <a:ext cx="9250018" cy="923330"/>
          </a:xfrm>
          <a:prstGeom prst="rect">
            <a:avLst/>
          </a:prstGeom>
          <a:noFill/>
        </p:spPr>
        <p:txBody>
          <a:bodyPr wrap="square" rtlCol="0">
            <a:spAutoFit/>
          </a:bodyPr>
          <a:lstStyle/>
          <a:p>
            <a:r>
              <a:rPr lang="en-US" b="1" dirty="0"/>
              <a:t>Applying machine learning to predict software fault proneness using change metrics, static code metrics, and a combination of them</a:t>
            </a:r>
          </a:p>
          <a:p>
            <a:r>
              <a:rPr lang="en-US" dirty="0"/>
              <a:t>Author- Yasser Ali </a:t>
            </a:r>
            <a:r>
              <a:rPr lang="en-US" dirty="0" err="1"/>
              <a:t>Alshehri</a:t>
            </a:r>
            <a:r>
              <a:rPr lang="en-US" dirty="0"/>
              <a:t>, Katerina </a:t>
            </a:r>
            <a:r>
              <a:rPr lang="en-US" dirty="0" err="1"/>
              <a:t>Goseva-Popstojanova</a:t>
            </a:r>
            <a:r>
              <a:rPr lang="en-US" dirty="0"/>
              <a:t>, Dale G. </a:t>
            </a:r>
            <a:r>
              <a:rPr lang="en-US" dirty="0" err="1"/>
              <a:t>Dzielski</a:t>
            </a:r>
            <a:r>
              <a:rPr lang="en-US"/>
              <a:t>, Thomas Devine</a:t>
            </a:r>
            <a:endParaRPr lang="en-US" dirty="0"/>
          </a:p>
        </p:txBody>
      </p:sp>
      <p:sp>
        <p:nvSpPr>
          <p:cNvPr id="6" name="TextBox 5">
            <a:extLst>
              <a:ext uri="{FF2B5EF4-FFF2-40B4-BE49-F238E27FC236}">
                <a16:creationId xmlns:a16="http://schemas.microsoft.com/office/drawing/2014/main" id="{9B5D2013-381D-93B9-6E30-7173987B7003}"/>
              </a:ext>
            </a:extLst>
          </p:cNvPr>
          <p:cNvSpPr txBox="1"/>
          <p:nvPr/>
        </p:nvSpPr>
        <p:spPr>
          <a:xfrm>
            <a:off x="1391479" y="3232116"/>
            <a:ext cx="9581321" cy="2246769"/>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2000" dirty="0"/>
              <a:t>The main goal was to find which algorithm performs best for code based metrics</a:t>
            </a:r>
          </a:p>
          <a:p>
            <a:pPr marL="342900" indent="-342900">
              <a:lnSpc>
                <a:spcPct val="150000"/>
              </a:lnSpc>
              <a:buFont typeface="Wingdings" panose="05000000000000000000" pitchFamily="2" charset="2"/>
              <a:buChar char="Ø"/>
            </a:pPr>
            <a:r>
              <a:rPr lang="en-US" sz="2000" dirty="0"/>
              <a:t>Three machine learning algorithms were applied on three Eclipse release(2.0,2.1,3.0)</a:t>
            </a:r>
          </a:p>
          <a:p>
            <a:pPr marL="342900" indent="-342900">
              <a:lnSpc>
                <a:spcPct val="150000"/>
              </a:lnSpc>
              <a:buFont typeface="Wingdings" panose="05000000000000000000" pitchFamily="2" charset="2"/>
              <a:buChar char="Ø"/>
            </a:pPr>
            <a:r>
              <a:rPr lang="en-US" sz="2000" dirty="0"/>
              <a:t>Naïve Bayes, logistic regression and J48 has been applied.</a:t>
            </a:r>
          </a:p>
          <a:p>
            <a:pPr marL="342900" indent="-342900">
              <a:lnSpc>
                <a:spcPct val="150000"/>
              </a:lnSpc>
              <a:buFont typeface="Wingdings" panose="05000000000000000000" pitchFamily="2" charset="2"/>
              <a:buChar char="Ø"/>
            </a:pPr>
            <a:r>
              <a:rPr lang="en-US" sz="2000" dirty="0"/>
              <a:t>With respect to G score J48 has outperformed.</a:t>
            </a:r>
          </a:p>
          <a:p>
            <a:endParaRPr lang="en-US" sz="2000" dirty="0"/>
          </a:p>
        </p:txBody>
      </p:sp>
    </p:spTree>
    <p:extLst>
      <p:ext uri="{BB962C8B-B14F-4D97-AF65-F5344CB8AC3E}">
        <p14:creationId xmlns:p14="http://schemas.microsoft.com/office/powerpoint/2010/main" val="2810192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DACA5-B84C-451E-AC2F-ABAC98CB3EC5}"/>
              </a:ext>
            </a:extLst>
          </p:cNvPr>
          <p:cNvSpPr>
            <a:spLocks noGrp="1"/>
          </p:cNvSpPr>
          <p:nvPr>
            <p:ph type="title"/>
          </p:nvPr>
        </p:nvSpPr>
        <p:spPr/>
        <p:txBody>
          <a:bodyPr/>
          <a:lstStyle/>
          <a:p>
            <a:r>
              <a:rPr lang="en-US" b="1" dirty="0"/>
              <a:t>LITERATURE REVIEW</a:t>
            </a:r>
            <a:endParaRPr lang="en-US" dirty="0"/>
          </a:p>
        </p:txBody>
      </p:sp>
      <p:pic>
        <p:nvPicPr>
          <p:cNvPr id="4" name="Picture 3">
            <a:extLst>
              <a:ext uri="{FF2B5EF4-FFF2-40B4-BE49-F238E27FC236}">
                <a16:creationId xmlns:a16="http://schemas.microsoft.com/office/drawing/2014/main" id="{80EA561C-BF14-4E23-83EB-38224784B3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7871" y="192211"/>
            <a:ext cx="1450758" cy="1450758"/>
          </a:xfrm>
          <a:prstGeom prst="rect">
            <a:avLst/>
          </a:prstGeom>
        </p:spPr>
      </p:pic>
      <p:sp>
        <p:nvSpPr>
          <p:cNvPr id="9" name="Rectangle 8">
            <a:extLst>
              <a:ext uri="{FF2B5EF4-FFF2-40B4-BE49-F238E27FC236}">
                <a16:creationId xmlns:a16="http://schemas.microsoft.com/office/drawing/2014/main" id="{9FCFDBFC-27B5-47FF-88C5-CA4569ADF0C4}"/>
              </a:ext>
            </a:extLst>
          </p:cNvPr>
          <p:cNvSpPr/>
          <p:nvPr/>
        </p:nvSpPr>
        <p:spPr>
          <a:xfrm>
            <a:off x="10389705" y="6379598"/>
            <a:ext cx="583095" cy="4784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9</a:t>
            </a:r>
          </a:p>
        </p:txBody>
      </p:sp>
      <p:pic>
        <p:nvPicPr>
          <p:cNvPr id="3" name="Picture 2">
            <a:extLst>
              <a:ext uri="{FF2B5EF4-FFF2-40B4-BE49-F238E27FC236}">
                <a16:creationId xmlns:a16="http://schemas.microsoft.com/office/drawing/2014/main" id="{9E12FF18-04F1-F765-23F0-AA7164E2E1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499652"/>
            <a:ext cx="902036" cy="812756"/>
          </a:xfrm>
          <a:prstGeom prst="rect">
            <a:avLst/>
          </a:prstGeom>
        </p:spPr>
      </p:pic>
      <p:sp>
        <p:nvSpPr>
          <p:cNvPr id="5" name="TextBox 4">
            <a:extLst>
              <a:ext uri="{FF2B5EF4-FFF2-40B4-BE49-F238E27FC236}">
                <a16:creationId xmlns:a16="http://schemas.microsoft.com/office/drawing/2014/main" id="{9C71441E-4F7D-C94B-0059-1DABA488CA5F}"/>
              </a:ext>
            </a:extLst>
          </p:cNvPr>
          <p:cNvSpPr txBox="1"/>
          <p:nvPr/>
        </p:nvSpPr>
        <p:spPr>
          <a:xfrm>
            <a:off x="1273232" y="2072503"/>
            <a:ext cx="9250018" cy="646331"/>
          </a:xfrm>
          <a:prstGeom prst="rect">
            <a:avLst/>
          </a:prstGeom>
          <a:noFill/>
        </p:spPr>
        <p:txBody>
          <a:bodyPr wrap="square" rtlCol="0">
            <a:spAutoFit/>
          </a:bodyPr>
          <a:lstStyle/>
          <a:p>
            <a:r>
              <a:rPr lang="en-US" b="1" dirty="0"/>
              <a:t>Empirical validation of object-oriented metrics for predicting fault proneness models</a:t>
            </a:r>
          </a:p>
          <a:p>
            <a:r>
              <a:rPr lang="en-US" dirty="0"/>
              <a:t>Author- Yogesh </a:t>
            </a:r>
            <a:r>
              <a:rPr lang="en-US" dirty="0" err="1"/>
              <a:t>Singh,Arvinder</a:t>
            </a:r>
            <a:r>
              <a:rPr lang="en-US" dirty="0"/>
              <a:t> Kaur, Ruchika Malhotra</a:t>
            </a:r>
          </a:p>
        </p:txBody>
      </p:sp>
      <p:sp>
        <p:nvSpPr>
          <p:cNvPr id="6" name="TextBox 5">
            <a:extLst>
              <a:ext uri="{FF2B5EF4-FFF2-40B4-BE49-F238E27FC236}">
                <a16:creationId xmlns:a16="http://schemas.microsoft.com/office/drawing/2014/main" id="{9B5D2013-381D-93B9-6E30-7173987B7003}"/>
              </a:ext>
            </a:extLst>
          </p:cNvPr>
          <p:cNvSpPr txBox="1"/>
          <p:nvPr/>
        </p:nvSpPr>
        <p:spPr>
          <a:xfrm>
            <a:off x="1273232" y="2804324"/>
            <a:ext cx="9581321" cy="2814617"/>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2000" dirty="0"/>
              <a:t>This research paper aims to find the relation of Object-Oriented(OO) metrics with fault proneness at different severity levels of faults. </a:t>
            </a:r>
          </a:p>
          <a:p>
            <a:pPr marL="342900" indent="-342900">
              <a:lnSpc>
                <a:spcPct val="150000"/>
              </a:lnSpc>
              <a:buFont typeface="Wingdings" panose="05000000000000000000" pitchFamily="2" charset="2"/>
              <a:buChar char="Ø"/>
            </a:pPr>
            <a:r>
              <a:rPr lang="en-US" sz="2000" dirty="0"/>
              <a:t>It has been evaluated to see which methods performs well in different severity levels of faults and empirically validate OO metrics given by </a:t>
            </a:r>
            <a:r>
              <a:rPr lang="en-US" sz="2000" dirty="0" err="1"/>
              <a:t>Chidamber</a:t>
            </a:r>
            <a:r>
              <a:rPr lang="en-US" sz="2000" dirty="0"/>
              <a:t> and </a:t>
            </a:r>
            <a:r>
              <a:rPr lang="en-US" sz="2000" dirty="0" err="1"/>
              <a:t>Kemerer</a:t>
            </a:r>
            <a:endParaRPr lang="en-US" sz="2000" dirty="0"/>
          </a:p>
          <a:p>
            <a:pPr marL="342900" indent="-342900">
              <a:lnSpc>
                <a:spcPct val="150000"/>
              </a:lnSpc>
              <a:buFont typeface="Wingdings" panose="05000000000000000000" pitchFamily="2" charset="2"/>
              <a:buChar char="Ø"/>
            </a:pPr>
            <a:r>
              <a:rPr lang="en-US" sz="2000" dirty="0"/>
              <a:t>The empirical study is based on public domain NASA dataset</a:t>
            </a:r>
          </a:p>
          <a:p>
            <a:pPr marL="342900" indent="-342900">
              <a:lnSpc>
                <a:spcPct val="150000"/>
              </a:lnSpc>
              <a:buFont typeface="Wingdings" panose="05000000000000000000" pitchFamily="2" charset="2"/>
              <a:buChar char="Ø"/>
            </a:pPr>
            <a:r>
              <a:rPr lang="en-US" sz="2000" dirty="0"/>
              <a:t>DT and ANN model outperformed the LR model </a:t>
            </a:r>
          </a:p>
        </p:txBody>
      </p:sp>
    </p:spTree>
    <p:extLst>
      <p:ext uri="{BB962C8B-B14F-4D97-AF65-F5344CB8AC3E}">
        <p14:creationId xmlns:p14="http://schemas.microsoft.com/office/powerpoint/2010/main" val="1872937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DACA5-B84C-451E-AC2F-ABAC98CB3EC5}"/>
              </a:ext>
            </a:extLst>
          </p:cNvPr>
          <p:cNvSpPr>
            <a:spLocks noGrp="1"/>
          </p:cNvSpPr>
          <p:nvPr>
            <p:ph type="title"/>
          </p:nvPr>
        </p:nvSpPr>
        <p:spPr/>
        <p:txBody>
          <a:bodyPr/>
          <a:lstStyle/>
          <a:p>
            <a:r>
              <a:rPr lang="en-US" b="1" dirty="0"/>
              <a:t>LITERATURE REVIEW</a:t>
            </a:r>
            <a:endParaRPr lang="en-US" dirty="0"/>
          </a:p>
        </p:txBody>
      </p:sp>
      <p:pic>
        <p:nvPicPr>
          <p:cNvPr id="4" name="Picture 3">
            <a:extLst>
              <a:ext uri="{FF2B5EF4-FFF2-40B4-BE49-F238E27FC236}">
                <a16:creationId xmlns:a16="http://schemas.microsoft.com/office/drawing/2014/main" id="{80EA561C-BF14-4E23-83EB-38224784B3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7871" y="192211"/>
            <a:ext cx="1450758" cy="1450758"/>
          </a:xfrm>
          <a:prstGeom prst="rect">
            <a:avLst/>
          </a:prstGeom>
        </p:spPr>
      </p:pic>
      <p:sp>
        <p:nvSpPr>
          <p:cNvPr id="9" name="Rectangle 8">
            <a:extLst>
              <a:ext uri="{FF2B5EF4-FFF2-40B4-BE49-F238E27FC236}">
                <a16:creationId xmlns:a16="http://schemas.microsoft.com/office/drawing/2014/main" id="{9FCFDBFC-27B5-47FF-88C5-CA4569ADF0C4}"/>
              </a:ext>
            </a:extLst>
          </p:cNvPr>
          <p:cNvSpPr/>
          <p:nvPr/>
        </p:nvSpPr>
        <p:spPr>
          <a:xfrm>
            <a:off x="10389705" y="6379598"/>
            <a:ext cx="583095" cy="4784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10</a:t>
            </a:r>
          </a:p>
        </p:txBody>
      </p:sp>
      <p:pic>
        <p:nvPicPr>
          <p:cNvPr id="3" name="Picture 2">
            <a:extLst>
              <a:ext uri="{FF2B5EF4-FFF2-40B4-BE49-F238E27FC236}">
                <a16:creationId xmlns:a16="http://schemas.microsoft.com/office/drawing/2014/main" id="{9E12FF18-04F1-F765-23F0-AA7164E2E1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499652"/>
            <a:ext cx="902036" cy="812756"/>
          </a:xfrm>
          <a:prstGeom prst="rect">
            <a:avLst/>
          </a:prstGeom>
        </p:spPr>
      </p:pic>
      <p:sp>
        <p:nvSpPr>
          <p:cNvPr id="5" name="TextBox 4">
            <a:extLst>
              <a:ext uri="{FF2B5EF4-FFF2-40B4-BE49-F238E27FC236}">
                <a16:creationId xmlns:a16="http://schemas.microsoft.com/office/drawing/2014/main" id="{9C71441E-4F7D-C94B-0059-1DABA488CA5F}"/>
              </a:ext>
            </a:extLst>
          </p:cNvPr>
          <p:cNvSpPr txBox="1"/>
          <p:nvPr/>
        </p:nvSpPr>
        <p:spPr>
          <a:xfrm>
            <a:off x="1391479" y="2040835"/>
            <a:ext cx="9250018" cy="646331"/>
          </a:xfrm>
          <a:prstGeom prst="rect">
            <a:avLst/>
          </a:prstGeom>
          <a:noFill/>
        </p:spPr>
        <p:txBody>
          <a:bodyPr wrap="square" rtlCol="0">
            <a:spAutoFit/>
          </a:bodyPr>
          <a:lstStyle/>
          <a:p>
            <a:r>
              <a:rPr lang="en-US" b="1" dirty="0"/>
              <a:t>Predicting Defects for Eclipse</a:t>
            </a:r>
          </a:p>
          <a:p>
            <a:r>
              <a:rPr lang="en-US" dirty="0"/>
              <a:t>Author-</a:t>
            </a:r>
            <a:r>
              <a:rPr lang="en-US" b="1" dirty="0"/>
              <a:t> </a:t>
            </a:r>
            <a:r>
              <a:rPr lang="en-US" dirty="0"/>
              <a:t>Thomas Zimmermann, Rahul </a:t>
            </a:r>
            <a:r>
              <a:rPr lang="en-US" dirty="0" err="1"/>
              <a:t>Premraj</a:t>
            </a:r>
            <a:r>
              <a:rPr lang="en-US" dirty="0"/>
              <a:t> , Andreas Zeller</a:t>
            </a:r>
          </a:p>
        </p:txBody>
      </p:sp>
      <p:sp>
        <p:nvSpPr>
          <p:cNvPr id="6" name="TextBox 5">
            <a:extLst>
              <a:ext uri="{FF2B5EF4-FFF2-40B4-BE49-F238E27FC236}">
                <a16:creationId xmlns:a16="http://schemas.microsoft.com/office/drawing/2014/main" id="{9B5D2013-381D-93B9-6E30-7173987B7003}"/>
              </a:ext>
            </a:extLst>
          </p:cNvPr>
          <p:cNvSpPr txBox="1"/>
          <p:nvPr/>
        </p:nvSpPr>
        <p:spPr>
          <a:xfrm>
            <a:off x="1391479" y="2897876"/>
            <a:ext cx="9581321" cy="2352952"/>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2000" dirty="0"/>
              <a:t>Researchers conducted a work on the code based on the Eclipse programming environment.</a:t>
            </a:r>
          </a:p>
          <a:p>
            <a:pPr marL="342900" indent="-342900">
              <a:lnSpc>
                <a:spcPct val="150000"/>
              </a:lnSpc>
              <a:buFont typeface="Wingdings" panose="05000000000000000000" pitchFamily="2" charset="2"/>
              <a:buChar char="Ø"/>
            </a:pPr>
            <a:r>
              <a:rPr lang="en-US" sz="2000" dirty="0"/>
              <a:t>The Spearman correlation was applied between the number of pre-release and post-release defects with the complexity metrics in the data set. </a:t>
            </a:r>
          </a:p>
          <a:p>
            <a:pPr marL="342900" indent="-342900">
              <a:lnSpc>
                <a:spcPct val="150000"/>
              </a:lnSpc>
              <a:buFont typeface="Wingdings" panose="05000000000000000000" pitchFamily="2" charset="2"/>
              <a:buChar char="Ø"/>
            </a:pPr>
            <a:r>
              <a:rPr lang="en-US" sz="2000" dirty="0"/>
              <a:t>It suggests that the more complex code it, the more defects it has.</a:t>
            </a:r>
          </a:p>
        </p:txBody>
      </p:sp>
    </p:spTree>
    <p:extLst>
      <p:ext uri="{BB962C8B-B14F-4D97-AF65-F5344CB8AC3E}">
        <p14:creationId xmlns:p14="http://schemas.microsoft.com/office/powerpoint/2010/main" val="3757294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EC889-BA15-4412-97BB-2E1968711906}"/>
              </a:ext>
            </a:extLst>
          </p:cNvPr>
          <p:cNvSpPr>
            <a:spLocks noGrp="1"/>
          </p:cNvSpPr>
          <p:nvPr>
            <p:ph type="title"/>
          </p:nvPr>
        </p:nvSpPr>
        <p:spPr>
          <a:xfrm>
            <a:off x="503582" y="411178"/>
            <a:ext cx="10058400" cy="868453"/>
          </a:xfrm>
        </p:spPr>
        <p:txBody>
          <a:bodyPr/>
          <a:lstStyle/>
          <a:p>
            <a:r>
              <a:rPr lang="en-US" b="1" dirty="0"/>
              <a:t>PROPOSED METHODOLOGY</a:t>
            </a:r>
            <a:endParaRPr lang="en-US" dirty="0"/>
          </a:p>
        </p:txBody>
      </p:sp>
      <p:pic>
        <p:nvPicPr>
          <p:cNvPr id="4" name="Picture 3">
            <a:extLst>
              <a:ext uri="{FF2B5EF4-FFF2-40B4-BE49-F238E27FC236}">
                <a16:creationId xmlns:a16="http://schemas.microsoft.com/office/drawing/2014/main" id="{A486BBBB-E554-4A14-A80A-9CDB3023A4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90419" y="120217"/>
            <a:ext cx="1588398" cy="1588398"/>
          </a:xfrm>
          <a:prstGeom prst="rect">
            <a:avLst/>
          </a:prstGeom>
        </p:spPr>
      </p:pic>
      <p:sp>
        <p:nvSpPr>
          <p:cNvPr id="9" name="Rectangle 8">
            <a:extLst>
              <a:ext uri="{FF2B5EF4-FFF2-40B4-BE49-F238E27FC236}">
                <a16:creationId xmlns:a16="http://schemas.microsoft.com/office/drawing/2014/main" id="{E14C9994-5D4C-4510-96AE-83AF266E02B9}"/>
              </a:ext>
            </a:extLst>
          </p:cNvPr>
          <p:cNvSpPr/>
          <p:nvPr/>
        </p:nvSpPr>
        <p:spPr>
          <a:xfrm>
            <a:off x="10561982" y="6353093"/>
            <a:ext cx="516835" cy="5049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11</a:t>
            </a:r>
          </a:p>
        </p:txBody>
      </p:sp>
      <p:pic>
        <p:nvPicPr>
          <p:cNvPr id="5" name="Picture 4">
            <a:extLst>
              <a:ext uri="{FF2B5EF4-FFF2-40B4-BE49-F238E27FC236}">
                <a16:creationId xmlns:a16="http://schemas.microsoft.com/office/drawing/2014/main" id="{35DA877F-36AF-7C07-79FD-98C4C3F3CA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499652"/>
            <a:ext cx="902036" cy="812756"/>
          </a:xfrm>
          <a:prstGeom prst="rect">
            <a:avLst/>
          </a:prstGeom>
        </p:spPr>
      </p:pic>
      <p:pic>
        <p:nvPicPr>
          <p:cNvPr id="6" name="Picture 5">
            <a:extLst>
              <a:ext uri="{FF2B5EF4-FFF2-40B4-BE49-F238E27FC236}">
                <a16:creationId xmlns:a16="http://schemas.microsoft.com/office/drawing/2014/main" id="{C5D0E3F0-2DAD-C800-4A3A-8F9CEA5873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6012" y="1345157"/>
            <a:ext cx="7533564" cy="4527006"/>
          </a:xfrm>
          <a:prstGeom prst="rect">
            <a:avLst/>
          </a:prstGeom>
        </p:spPr>
      </p:pic>
      <p:sp>
        <p:nvSpPr>
          <p:cNvPr id="7" name="TextBox 6">
            <a:extLst>
              <a:ext uri="{FF2B5EF4-FFF2-40B4-BE49-F238E27FC236}">
                <a16:creationId xmlns:a16="http://schemas.microsoft.com/office/drawing/2014/main" id="{2C5809B1-1F17-E4EA-1055-606E44575FC1}"/>
              </a:ext>
            </a:extLst>
          </p:cNvPr>
          <p:cNvSpPr txBox="1"/>
          <p:nvPr/>
        </p:nvSpPr>
        <p:spPr>
          <a:xfrm>
            <a:off x="3988310" y="5981243"/>
            <a:ext cx="6573672" cy="323165"/>
          </a:xfrm>
          <a:prstGeom prst="rect">
            <a:avLst/>
          </a:prstGeom>
          <a:noFill/>
        </p:spPr>
        <p:txBody>
          <a:bodyPr wrap="square" rtlCol="0">
            <a:spAutoFit/>
          </a:bodyPr>
          <a:lstStyle/>
          <a:p>
            <a:r>
              <a:rPr lang="en-US" sz="1500" b="1" dirty="0"/>
              <a:t>Figure: </a:t>
            </a:r>
            <a:r>
              <a:rPr lang="en-AU" sz="1500" b="1" dirty="0">
                <a:effectLst/>
                <a:ea typeface="Times New Roman" panose="02020603050405020304" pitchFamily="18" charset="0"/>
              </a:rPr>
              <a:t>Diagram for model construction of SDP</a:t>
            </a:r>
            <a:endParaRPr lang="en-US" sz="1500" b="1" dirty="0"/>
          </a:p>
        </p:txBody>
      </p:sp>
    </p:spTree>
    <p:extLst>
      <p:ext uri="{BB962C8B-B14F-4D97-AF65-F5344CB8AC3E}">
        <p14:creationId xmlns:p14="http://schemas.microsoft.com/office/powerpoint/2010/main" val="1612365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E2F1F-2424-7754-C30B-F24FC0B766C4}"/>
              </a:ext>
            </a:extLst>
          </p:cNvPr>
          <p:cNvSpPr>
            <a:spLocks noGrp="1"/>
          </p:cNvSpPr>
          <p:nvPr>
            <p:ph type="title"/>
          </p:nvPr>
        </p:nvSpPr>
        <p:spPr>
          <a:xfrm>
            <a:off x="1160970" y="714233"/>
            <a:ext cx="10058400" cy="768369"/>
          </a:xfrm>
        </p:spPr>
        <p:txBody>
          <a:bodyPr/>
          <a:lstStyle/>
          <a:p>
            <a:r>
              <a:rPr lang="en-US" dirty="0"/>
              <a:t>WORKING PROCEDURE</a:t>
            </a:r>
          </a:p>
        </p:txBody>
      </p:sp>
      <p:pic>
        <p:nvPicPr>
          <p:cNvPr id="4" name="Picture 3">
            <a:extLst>
              <a:ext uri="{FF2B5EF4-FFF2-40B4-BE49-F238E27FC236}">
                <a16:creationId xmlns:a16="http://schemas.microsoft.com/office/drawing/2014/main" id="{41F37BF5-E2FF-33F3-0827-2156DAB38D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48633" y="162678"/>
            <a:ext cx="1476926" cy="1476926"/>
          </a:xfrm>
          <a:prstGeom prst="rect">
            <a:avLst/>
          </a:prstGeom>
        </p:spPr>
      </p:pic>
      <p:sp>
        <p:nvSpPr>
          <p:cNvPr id="5" name="TextBox 4">
            <a:extLst>
              <a:ext uri="{FF2B5EF4-FFF2-40B4-BE49-F238E27FC236}">
                <a16:creationId xmlns:a16="http://schemas.microsoft.com/office/drawing/2014/main" id="{2739894F-AB88-86E2-1CE5-8EB161406CB7}"/>
              </a:ext>
            </a:extLst>
          </p:cNvPr>
          <p:cNvSpPr txBox="1"/>
          <p:nvPr/>
        </p:nvSpPr>
        <p:spPr>
          <a:xfrm>
            <a:off x="1246496" y="2074460"/>
            <a:ext cx="9840035" cy="4524315"/>
          </a:xfrm>
          <a:prstGeom prst="rect">
            <a:avLst/>
          </a:prstGeom>
          <a:noFill/>
        </p:spPr>
        <p:txBody>
          <a:bodyPr wrap="square" rtlCol="0">
            <a:spAutoFit/>
          </a:bodyPr>
          <a:lstStyle/>
          <a:p>
            <a:r>
              <a:rPr lang="en-US" dirty="0"/>
              <a:t>The whole process can be divided into 4 parts:</a:t>
            </a:r>
          </a:p>
          <a:p>
            <a:pPr marL="285750" indent="-285750">
              <a:lnSpc>
                <a:spcPct val="150000"/>
              </a:lnSpc>
              <a:buFont typeface="Wingdings" panose="05000000000000000000" pitchFamily="2" charset="2"/>
              <a:buChar char="Ø"/>
            </a:pPr>
            <a:endParaRPr lang="en-US" dirty="0"/>
          </a:p>
          <a:p>
            <a:pPr marL="285750" indent="-285750">
              <a:lnSpc>
                <a:spcPct val="150000"/>
              </a:lnSpc>
              <a:buFont typeface="Wingdings" panose="05000000000000000000" pitchFamily="2" charset="2"/>
              <a:buChar char="Ø"/>
            </a:pPr>
            <a:r>
              <a:rPr lang="en-US" dirty="0"/>
              <a:t> Data collection &amp; Data Preprocessing: For analysis purpose, OO metrics were needed. So Eclipse dataset was used. Irrelevant data was removed.</a:t>
            </a:r>
          </a:p>
          <a:p>
            <a:pPr marL="285750" indent="-285750">
              <a:lnSpc>
                <a:spcPct val="150000"/>
              </a:lnSpc>
              <a:buFont typeface="Wingdings" panose="05000000000000000000" pitchFamily="2" charset="2"/>
              <a:buChar char="Ø"/>
            </a:pPr>
            <a:r>
              <a:rPr lang="en-US" dirty="0"/>
              <a:t>Feature Selection: CK, Coupling, Size, Pearson Correlation</a:t>
            </a:r>
          </a:p>
          <a:p>
            <a:pPr marL="285750" indent="-285750">
              <a:lnSpc>
                <a:spcPct val="150000"/>
              </a:lnSpc>
              <a:buFont typeface="Wingdings" panose="05000000000000000000" pitchFamily="2" charset="2"/>
              <a:buChar char="Ø"/>
            </a:pPr>
            <a:r>
              <a:rPr lang="en-US" dirty="0"/>
              <a:t>Further Processing: split the dataset into test and training set</a:t>
            </a:r>
          </a:p>
          <a:p>
            <a:pPr marL="285750" indent="-285750">
              <a:lnSpc>
                <a:spcPct val="150000"/>
              </a:lnSpc>
              <a:buFont typeface="Wingdings" panose="05000000000000000000" pitchFamily="2" charset="2"/>
              <a:buChar char="Ø"/>
            </a:pPr>
            <a:r>
              <a:rPr lang="en-US" dirty="0"/>
              <a:t>Classifier apply</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p:txBody>
      </p:sp>
      <p:sp>
        <p:nvSpPr>
          <p:cNvPr id="3" name="Rectangle 2">
            <a:extLst>
              <a:ext uri="{FF2B5EF4-FFF2-40B4-BE49-F238E27FC236}">
                <a16:creationId xmlns:a16="http://schemas.microsoft.com/office/drawing/2014/main" id="{DE6CF863-CAE3-F5A0-CF58-7409FD2748C3}"/>
              </a:ext>
            </a:extLst>
          </p:cNvPr>
          <p:cNvSpPr/>
          <p:nvPr/>
        </p:nvSpPr>
        <p:spPr>
          <a:xfrm>
            <a:off x="10064378" y="6378272"/>
            <a:ext cx="596347" cy="4797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12</a:t>
            </a:r>
          </a:p>
        </p:txBody>
      </p:sp>
      <p:pic>
        <p:nvPicPr>
          <p:cNvPr id="6" name="Picture 5">
            <a:extLst>
              <a:ext uri="{FF2B5EF4-FFF2-40B4-BE49-F238E27FC236}">
                <a16:creationId xmlns:a16="http://schemas.microsoft.com/office/drawing/2014/main" id="{65977109-352D-8952-C78A-35A6EC4783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499652"/>
            <a:ext cx="902036" cy="812756"/>
          </a:xfrm>
          <a:prstGeom prst="rect">
            <a:avLst/>
          </a:prstGeom>
        </p:spPr>
      </p:pic>
    </p:spTree>
    <p:extLst>
      <p:ext uri="{BB962C8B-B14F-4D97-AF65-F5344CB8AC3E}">
        <p14:creationId xmlns:p14="http://schemas.microsoft.com/office/powerpoint/2010/main" val="2688975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F4384-69AB-D397-A380-78B7031C02E3}"/>
              </a:ext>
            </a:extLst>
          </p:cNvPr>
          <p:cNvSpPr>
            <a:spLocks noGrp="1"/>
          </p:cNvSpPr>
          <p:nvPr>
            <p:ph type="title"/>
          </p:nvPr>
        </p:nvSpPr>
        <p:spPr/>
        <p:txBody>
          <a:bodyPr/>
          <a:lstStyle/>
          <a:p>
            <a:r>
              <a:rPr lang="en-US" dirty="0"/>
              <a:t>CLASSIFIER SELECTION</a:t>
            </a:r>
          </a:p>
        </p:txBody>
      </p:sp>
      <p:sp>
        <p:nvSpPr>
          <p:cNvPr id="3" name="TextBox 2">
            <a:extLst>
              <a:ext uri="{FF2B5EF4-FFF2-40B4-BE49-F238E27FC236}">
                <a16:creationId xmlns:a16="http://schemas.microsoft.com/office/drawing/2014/main" id="{826A9F6D-7163-5BEA-4351-3A1F1E9F7A03}"/>
              </a:ext>
            </a:extLst>
          </p:cNvPr>
          <p:cNvSpPr txBox="1"/>
          <p:nvPr/>
        </p:nvSpPr>
        <p:spPr>
          <a:xfrm>
            <a:off x="1097280" y="2160896"/>
            <a:ext cx="10112081" cy="3277820"/>
          </a:xfrm>
          <a:prstGeom prst="rect">
            <a:avLst/>
          </a:prstGeom>
          <a:noFill/>
        </p:spPr>
        <p:txBody>
          <a:bodyPr wrap="square" rtlCol="0">
            <a:spAutoFit/>
          </a:bodyPr>
          <a:lstStyle/>
          <a:p>
            <a:pPr marL="285750" indent="-285750">
              <a:buFont typeface="Wingdings" panose="05000000000000000000" pitchFamily="2" charset="2"/>
              <a:buChar char="ü"/>
            </a:pPr>
            <a:r>
              <a:rPr lang="en-US" dirty="0"/>
              <a:t>5 Machine Learning classifiers were used to construct the model:</a:t>
            </a:r>
          </a:p>
          <a:p>
            <a:endParaRPr lang="en-US" dirty="0"/>
          </a:p>
          <a:p>
            <a:pPr marL="742950" lvl="1" indent="-285750">
              <a:lnSpc>
                <a:spcPct val="150000"/>
              </a:lnSpc>
              <a:buFont typeface="Wingdings" panose="05000000000000000000" pitchFamily="2" charset="2"/>
              <a:buChar char="Ø"/>
            </a:pPr>
            <a:r>
              <a:rPr lang="en-US" dirty="0"/>
              <a:t> Logistic Regression </a:t>
            </a:r>
          </a:p>
          <a:p>
            <a:pPr marL="742950" lvl="1" indent="-285750">
              <a:lnSpc>
                <a:spcPct val="150000"/>
              </a:lnSpc>
              <a:buFont typeface="Wingdings" panose="05000000000000000000" pitchFamily="2" charset="2"/>
              <a:buChar char="Ø"/>
            </a:pPr>
            <a:r>
              <a:rPr lang="en-US" dirty="0"/>
              <a:t> Decision Tree</a:t>
            </a:r>
          </a:p>
          <a:p>
            <a:pPr marL="742950" lvl="1" indent="-285750">
              <a:lnSpc>
                <a:spcPct val="150000"/>
              </a:lnSpc>
              <a:buFont typeface="Wingdings" panose="05000000000000000000" pitchFamily="2" charset="2"/>
              <a:buChar char="Ø"/>
            </a:pPr>
            <a:r>
              <a:rPr lang="en-US" dirty="0"/>
              <a:t> Naïve Bayes</a:t>
            </a:r>
          </a:p>
          <a:p>
            <a:pPr marL="742950" lvl="1" indent="-285750">
              <a:lnSpc>
                <a:spcPct val="150000"/>
              </a:lnSpc>
              <a:buFont typeface="Wingdings" panose="05000000000000000000" pitchFamily="2" charset="2"/>
              <a:buChar char="Ø"/>
            </a:pPr>
            <a:r>
              <a:rPr lang="en-US" dirty="0"/>
              <a:t> K-Nearest Neighbor</a:t>
            </a:r>
          </a:p>
          <a:p>
            <a:pPr marL="742950" lvl="1" indent="-285750">
              <a:lnSpc>
                <a:spcPct val="150000"/>
              </a:lnSpc>
              <a:buFont typeface="Wingdings" panose="05000000000000000000" pitchFamily="2" charset="2"/>
              <a:buChar char="Ø"/>
            </a:pPr>
            <a:r>
              <a:rPr lang="en-US" dirty="0"/>
              <a:t> Support Vector Machine</a:t>
            </a:r>
          </a:p>
          <a:p>
            <a:endParaRPr lang="en-US" dirty="0"/>
          </a:p>
          <a:p>
            <a:endParaRPr lang="en-US" dirty="0"/>
          </a:p>
        </p:txBody>
      </p:sp>
      <p:sp>
        <p:nvSpPr>
          <p:cNvPr id="4" name="Rectangle 3">
            <a:extLst>
              <a:ext uri="{FF2B5EF4-FFF2-40B4-BE49-F238E27FC236}">
                <a16:creationId xmlns:a16="http://schemas.microsoft.com/office/drawing/2014/main" id="{CB63EE5D-040E-CAF0-8555-11F5E89A6FBB}"/>
              </a:ext>
            </a:extLst>
          </p:cNvPr>
          <p:cNvSpPr/>
          <p:nvPr/>
        </p:nvSpPr>
        <p:spPr>
          <a:xfrm>
            <a:off x="10064378" y="6378272"/>
            <a:ext cx="596347" cy="4797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13</a:t>
            </a:r>
          </a:p>
        </p:txBody>
      </p:sp>
      <p:pic>
        <p:nvPicPr>
          <p:cNvPr id="5" name="Picture 4">
            <a:extLst>
              <a:ext uri="{FF2B5EF4-FFF2-40B4-BE49-F238E27FC236}">
                <a16:creationId xmlns:a16="http://schemas.microsoft.com/office/drawing/2014/main" id="{075BA934-EBF7-F96D-5030-6E7CBFB873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499652"/>
            <a:ext cx="902036" cy="812756"/>
          </a:xfrm>
          <a:prstGeom prst="rect">
            <a:avLst/>
          </a:prstGeom>
        </p:spPr>
      </p:pic>
      <p:pic>
        <p:nvPicPr>
          <p:cNvPr id="6" name="Picture 5">
            <a:extLst>
              <a:ext uri="{FF2B5EF4-FFF2-40B4-BE49-F238E27FC236}">
                <a16:creationId xmlns:a16="http://schemas.microsoft.com/office/drawing/2014/main" id="{614BFAFC-EA07-DA9D-DFC9-189E7FF41F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48633" y="162678"/>
            <a:ext cx="1476926" cy="1476926"/>
          </a:xfrm>
          <a:prstGeom prst="rect">
            <a:avLst/>
          </a:prstGeom>
        </p:spPr>
      </p:pic>
    </p:spTree>
    <p:extLst>
      <p:ext uri="{BB962C8B-B14F-4D97-AF65-F5344CB8AC3E}">
        <p14:creationId xmlns:p14="http://schemas.microsoft.com/office/powerpoint/2010/main" val="6320785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93AB5-BE73-1431-4652-03D212BF9655}"/>
              </a:ext>
            </a:extLst>
          </p:cNvPr>
          <p:cNvSpPr>
            <a:spLocks noGrp="1"/>
          </p:cNvSpPr>
          <p:nvPr>
            <p:ph type="title"/>
          </p:nvPr>
        </p:nvSpPr>
        <p:spPr>
          <a:xfrm>
            <a:off x="1066800" y="326875"/>
            <a:ext cx="2659039" cy="713778"/>
          </a:xfrm>
        </p:spPr>
        <p:txBody>
          <a:bodyPr>
            <a:normAutofit fontScale="90000"/>
          </a:bodyPr>
          <a:lstStyle/>
          <a:p>
            <a:r>
              <a:rPr lang="en-US" dirty="0"/>
              <a:t>RESULTS</a:t>
            </a:r>
          </a:p>
        </p:txBody>
      </p:sp>
      <p:pic>
        <p:nvPicPr>
          <p:cNvPr id="1026" name="Picture 1">
            <a:extLst>
              <a:ext uri="{FF2B5EF4-FFF2-40B4-BE49-F238E27FC236}">
                <a16:creationId xmlns:a16="http://schemas.microsoft.com/office/drawing/2014/main" id="{062BFD79-9C4A-EFDC-A466-F3C7814B70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2037" y="1243933"/>
            <a:ext cx="4309517" cy="2461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B469A458-06D0-2233-E2C3-24BBF3B02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1638" y="1243933"/>
            <a:ext cx="4442845" cy="2387361"/>
          </a:xfrm>
          <a:prstGeom prst="rect">
            <a:avLst/>
          </a:prstGeom>
        </p:spPr>
      </p:pic>
      <p:pic>
        <p:nvPicPr>
          <p:cNvPr id="5" name="Picture 4">
            <a:extLst>
              <a:ext uri="{FF2B5EF4-FFF2-40B4-BE49-F238E27FC236}">
                <a16:creationId xmlns:a16="http://schemas.microsoft.com/office/drawing/2014/main" id="{F0901345-F642-D1A1-0D8F-624826D7C7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5526" y="3816377"/>
            <a:ext cx="4423793" cy="2387361"/>
          </a:xfrm>
          <a:prstGeom prst="rect">
            <a:avLst/>
          </a:prstGeom>
        </p:spPr>
      </p:pic>
      <p:sp>
        <p:nvSpPr>
          <p:cNvPr id="3" name="Rectangle 2">
            <a:extLst>
              <a:ext uri="{FF2B5EF4-FFF2-40B4-BE49-F238E27FC236}">
                <a16:creationId xmlns:a16="http://schemas.microsoft.com/office/drawing/2014/main" id="{AC8B4DAA-33BF-746C-DCDC-7206810C84A4}"/>
              </a:ext>
            </a:extLst>
          </p:cNvPr>
          <p:cNvSpPr/>
          <p:nvPr/>
        </p:nvSpPr>
        <p:spPr>
          <a:xfrm>
            <a:off x="10064378" y="6378272"/>
            <a:ext cx="596347" cy="4797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14</a:t>
            </a:r>
          </a:p>
        </p:txBody>
      </p:sp>
      <p:pic>
        <p:nvPicPr>
          <p:cNvPr id="6" name="Picture 5">
            <a:extLst>
              <a:ext uri="{FF2B5EF4-FFF2-40B4-BE49-F238E27FC236}">
                <a16:creationId xmlns:a16="http://schemas.microsoft.com/office/drawing/2014/main" id="{1E382B17-EED7-36B7-66C8-3868881E9C7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 y="5499652"/>
            <a:ext cx="902036" cy="812756"/>
          </a:xfrm>
          <a:prstGeom prst="rect">
            <a:avLst/>
          </a:prstGeom>
        </p:spPr>
      </p:pic>
      <p:sp>
        <p:nvSpPr>
          <p:cNvPr id="12" name="TextBox 11">
            <a:extLst>
              <a:ext uri="{FF2B5EF4-FFF2-40B4-BE49-F238E27FC236}">
                <a16:creationId xmlns:a16="http://schemas.microsoft.com/office/drawing/2014/main" id="{C39FB63A-85AF-CDA0-14FC-21D86B581CC0}"/>
              </a:ext>
            </a:extLst>
          </p:cNvPr>
          <p:cNvSpPr txBox="1"/>
          <p:nvPr/>
        </p:nvSpPr>
        <p:spPr>
          <a:xfrm>
            <a:off x="7610632" y="3525568"/>
            <a:ext cx="4844955" cy="338554"/>
          </a:xfrm>
          <a:prstGeom prst="rect">
            <a:avLst/>
          </a:prstGeom>
          <a:noFill/>
        </p:spPr>
        <p:txBody>
          <a:bodyPr wrap="square" rtlCol="0">
            <a:spAutoFit/>
          </a:bodyPr>
          <a:lstStyle/>
          <a:p>
            <a:r>
              <a:rPr lang="en-US" sz="1600" dirty="0"/>
              <a:t>Figure 2: Model accuracy for Coupling metrics</a:t>
            </a:r>
          </a:p>
        </p:txBody>
      </p:sp>
      <p:sp>
        <p:nvSpPr>
          <p:cNvPr id="13" name="TextBox 12">
            <a:extLst>
              <a:ext uri="{FF2B5EF4-FFF2-40B4-BE49-F238E27FC236}">
                <a16:creationId xmlns:a16="http://schemas.microsoft.com/office/drawing/2014/main" id="{F4001C6F-4147-9B65-A5CC-ACF4D9B5BEFF}"/>
              </a:ext>
            </a:extLst>
          </p:cNvPr>
          <p:cNvSpPr txBox="1"/>
          <p:nvPr/>
        </p:nvSpPr>
        <p:spPr>
          <a:xfrm>
            <a:off x="1303361" y="3535804"/>
            <a:ext cx="4844955" cy="338554"/>
          </a:xfrm>
          <a:prstGeom prst="rect">
            <a:avLst/>
          </a:prstGeom>
          <a:noFill/>
        </p:spPr>
        <p:txBody>
          <a:bodyPr wrap="square" rtlCol="0">
            <a:spAutoFit/>
          </a:bodyPr>
          <a:lstStyle/>
          <a:p>
            <a:r>
              <a:rPr lang="en-US" sz="1600" dirty="0"/>
              <a:t>Figure 1: Model accuracy for CK metrics</a:t>
            </a:r>
          </a:p>
        </p:txBody>
      </p:sp>
      <p:sp>
        <p:nvSpPr>
          <p:cNvPr id="14" name="TextBox 13">
            <a:extLst>
              <a:ext uri="{FF2B5EF4-FFF2-40B4-BE49-F238E27FC236}">
                <a16:creationId xmlns:a16="http://schemas.microsoft.com/office/drawing/2014/main" id="{71DD2D53-69F8-E76E-CC65-810A37B4BBC7}"/>
              </a:ext>
            </a:extLst>
          </p:cNvPr>
          <p:cNvSpPr txBox="1"/>
          <p:nvPr/>
        </p:nvSpPr>
        <p:spPr>
          <a:xfrm>
            <a:off x="4416480" y="5997805"/>
            <a:ext cx="4844955" cy="338554"/>
          </a:xfrm>
          <a:prstGeom prst="rect">
            <a:avLst/>
          </a:prstGeom>
          <a:noFill/>
        </p:spPr>
        <p:txBody>
          <a:bodyPr wrap="square" rtlCol="0">
            <a:spAutoFit/>
          </a:bodyPr>
          <a:lstStyle/>
          <a:p>
            <a:r>
              <a:rPr lang="en-US" sz="1600" dirty="0"/>
              <a:t>Figure 3: Model accuracy for Size metrics</a:t>
            </a:r>
          </a:p>
        </p:txBody>
      </p:sp>
    </p:spTree>
    <p:extLst>
      <p:ext uri="{BB962C8B-B14F-4D97-AF65-F5344CB8AC3E}">
        <p14:creationId xmlns:p14="http://schemas.microsoft.com/office/powerpoint/2010/main" val="32559047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5DD6E-60F6-464B-1450-79254005B18A}"/>
              </a:ext>
            </a:extLst>
          </p:cNvPr>
          <p:cNvSpPr>
            <a:spLocks noGrp="1"/>
          </p:cNvSpPr>
          <p:nvPr>
            <p:ph type="title"/>
          </p:nvPr>
        </p:nvSpPr>
        <p:spPr>
          <a:xfrm>
            <a:off x="928958" y="586853"/>
            <a:ext cx="10058400" cy="786566"/>
          </a:xfrm>
        </p:spPr>
        <p:txBody>
          <a:bodyPr/>
          <a:lstStyle/>
          <a:p>
            <a:r>
              <a:rPr lang="en-US" dirty="0"/>
              <a:t>RESULTS</a:t>
            </a:r>
          </a:p>
        </p:txBody>
      </p:sp>
      <p:pic>
        <p:nvPicPr>
          <p:cNvPr id="7" name="Picture 5">
            <a:extLst>
              <a:ext uri="{FF2B5EF4-FFF2-40B4-BE49-F238E27FC236}">
                <a16:creationId xmlns:a16="http://schemas.microsoft.com/office/drawing/2014/main" id="{D32A9FA2-CF9B-FFB5-6075-99BA94B8C9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5628" y="2362654"/>
            <a:ext cx="4840406" cy="2264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B5AB65DF-C81B-B05B-E2C2-69CE6695CCE7}"/>
              </a:ext>
            </a:extLst>
          </p:cNvPr>
          <p:cNvSpPr txBox="1"/>
          <p:nvPr/>
        </p:nvSpPr>
        <p:spPr>
          <a:xfrm>
            <a:off x="846160" y="5408230"/>
            <a:ext cx="10099343" cy="646331"/>
          </a:xfrm>
          <a:prstGeom prst="rect">
            <a:avLst/>
          </a:prstGeom>
          <a:noFill/>
        </p:spPr>
        <p:txBody>
          <a:bodyPr wrap="square" rtlCol="0">
            <a:spAutoFit/>
          </a:bodyPr>
          <a:lstStyle/>
          <a:p>
            <a:r>
              <a:rPr lang="en-US" dirty="0"/>
              <a:t>So, by applying Pearson Correlation, it is found that LR outperforms among all classifiers and these metrics are highly correlated with bugs from other metrics. For all metrics LR outperforms the most.</a:t>
            </a:r>
          </a:p>
        </p:txBody>
      </p:sp>
      <p:sp>
        <p:nvSpPr>
          <p:cNvPr id="3" name="Rectangle 2">
            <a:extLst>
              <a:ext uri="{FF2B5EF4-FFF2-40B4-BE49-F238E27FC236}">
                <a16:creationId xmlns:a16="http://schemas.microsoft.com/office/drawing/2014/main" id="{98E8D9DF-DAD0-CFCF-FDE7-00E1953E44E1}"/>
              </a:ext>
            </a:extLst>
          </p:cNvPr>
          <p:cNvSpPr/>
          <p:nvPr/>
        </p:nvSpPr>
        <p:spPr>
          <a:xfrm>
            <a:off x="10064378" y="6378272"/>
            <a:ext cx="596347" cy="4797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15</a:t>
            </a:r>
          </a:p>
        </p:txBody>
      </p:sp>
      <p:pic>
        <p:nvPicPr>
          <p:cNvPr id="4" name="Picture 3">
            <a:extLst>
              <a:ext uri="{FF2B5EF4-FFF2-40B4-BE49-F238E27FC236}">
                <a16:creationId xmlns:a16="http://schemas.microsoft.com/office/drawing/2014/main" id="{BE692984-B99B-77B8-1525-E5BBD25C06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549998"/>
            <a:ext cx="846160" cy="762410"/>
          </a:xfrm>
          <a:prstGeom prst="rect">
            <a:avLst/>
          </a:prstGeom>
        </p:spPr>
      </p:pic>
      <p:sp>
        <p:nvSpPr>
          <p:cNvPr id="5" name="TextBox 4">
            <a:extLst>
              <a:ext uri="{FF2B5EF4-FFF2-40B4-BE49-F238E27FC236}">
                <a16:creationId xmlns:a16="http://schemas.microsoft.com/office/drawing/2014/main" id="{532422F0-05B0-A00D-5EBA-B02754C83FC3}"/>
              </a:ext>
            </a:extLst>
          </p:cNvPr>
          <p:cNvSpPr txBox="1"/>
          <p:nvPr/>
        </p:nvSpPr>
        <p:spPr>
          <a:xfrm>
            <a:off x="3838206" y="4745965"/>
            <a:ext cx="4844955" cy="338554"/>
          </a:xfrm>
          <a:prstGeom prst="rect">
            <a:avLst/>
          </a:prstGeom>
          <a:noFill/>
        </p:spPr>
        <p:txBody>
          <a:bodyPr wrap="square" rtlCol="0">
            <a:spAutoFit/>
          </a:bodyPr>
          <a:lstStyle/>
          <a:p>
            <a:r>
              <a:rPr lang="en-US" sz="1600" dirty="0"/>
              <a:t>Figure 4: Model accuracy for Pearson Correlation</a:t>
            </a:r>
          </a:p>
        </p:txBody>
      </p:sp>
      <p:pic>
        <p:nvPicPr>
          <p:cNvPr id="6" name="Picture 5">
            <a:extLst>
              <a:ext uri="{FF2B5EF4-FFF2-40B4-BE49-F238E27FC236}">
                <a16:creationId xmlns:a16="http://schemas.microsoft.com/office/drawing/2014/main" id="{76967576-7CB2-713D-6CDC-B9D2C3681F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48633" y="162678"/>
            <a:ext cx="1476926" cy="1476926"/>
          </a:xfrm>
          <a:prstGeom prst="rect">
            <a:avLst/>
          </a:prstGeom>
        </p:spPr>
      </p:pic>
    </p:spTree>
    <p:extLst>
      <p:ext uri="{BB962C8B-B14F-4D97-AF65-F5344CB8AC3E}">
        <p14:creationId xmlns:p14="http://schemas.microsoft.com/office/powerpoint/2010/main" val="20464375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4E9B7-E43F-25A3-91C2-EFEC4B7D0FFF}"/>
              </a:ext>
            </a:extLst>
          </p:cNvPr>
          <p:cNvSpPr>
            <a:spLocks noGrp="1"/>
          </p:cNvSpPr>
          <p:nvPr>
            <p:ph type="title"/>
          </p:nvPr>
        </p:nvSpPr>
        <p:spPr>
          <a:xfrm>
            <a:off x="1165519" y="914399"/>
            <a:ext cx="10058400" cy="672835"/>
          </a:xfrm>
        </p:spPr>
        <p:txBody>
          <a:bodyPr>
            <a:normAutofit fontScale="90000"/>
          </a:bodyPr>
          <a:lstStyle/>
          <a:p>
            <a:r>
              <a:rPr lang="en-US" dirty="0"/>
              <a:t>FUTURE WORK</a:t>
            </a:r>
          </a:p>
        </p:txBody>
      </p:sp>
      <p:sp>
        <p:nvSpPr>
          <p:cNvPr id="4" name="TextBox 3">
            <a:extLst>
              <a:ext uri="{FF2B5EF4-FFF2-40B4-BE49-F238E27FC236}">
                <a16:creationId xmlns:a16="http://schemas.microsoft.com/office/drawing/2014/main" id="{77D1FFEF-9F13-9944-9760-F5274D045898}"/>
              </a:ext>
            </a:extLst>
          </p:cNvPr>
          <p:cNvSpPr txBox="1"/>
          <p:nvPr/>
        </p:nvSpPr>
        <p:spPr>
          <a:xfrm>
            <a:off x="1278340" y="2229134"/>
            <a:ext cx="9507941" cy="1754326"/>
          </a:xfrm>
          <a:prstGeom prst="rect">
            <a:avLst/>
          </a:prstGeom>
          <a:noFill/>
        </p:spPr>
        <p:txBody>
          <a:bodyPr wrap="square" rtlCol="0">
            <a:spAutoFit/>
          </a:bodyPr>
          <a:lstStyle/>
          <a:p>
            <a:pPr marL="285750" indent="-285750">
              <a:buFont typeface="Wingdings" panose="05000000000000000000" pitchFamily="2" charset="2"/>
              <a:buChar char="Ø"/>
            </a:pPr>
            <a:r>
              <a:rPr lang="en-US" dirty="0"/>
              <a:t>Could be Implemented real software projects to test the models</a:t>
            </a:r>
          </a:p>
          <a:p>
            <a:endParaRPr lang="en-US" dirty="0"/>
          </a:p>
          <a:p>
            <a:pPr marL="285750" indent="-285750">
              <a:buFont typeface="Wingdings" panose="05000000000000000000" pitchFamily="2" charset="2"/>
              <a:buChar char="Ø"/>
            </a:pPr>
            <a:r>
              <a:rPr lang="en-US" dirty="0"/>
              <a:t>Deep learning can be applied to test whether accuracy increases or not</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Ensemble learning technique and Smote can be applied to increase accuracy</a:t>
            </a:r>
          </a:p>
          <a:p>
            <a:pPr marL="285750" indent="-285750">
              <a:buFont typeface="Wingdings" panose="05000000000000000000" pitchFamily="2" charset="2"/>
              <a:buChar char="Ø"/>
            </a:pPr>
            <a:endParaRPr lang="en-US" dirty="0"/>
          </a:p>
        </p:txBody>
      </p:sp>
      <p:sp>
        <p:nvSpPr>
          <p:cNvPr id="3" name="Rectangle 2">
            <a:extLst>
              <a:ext uri="{FF2B5EF4-FFF2-40B4-BE49-F238E27FC236}">
                <a16:creationId xmlns:a16="http://schemas.microsoft.com/office/drawing/2014/main" id="{F18FDD4E-9C63-41A4-2947-AB97BC90FD64}"/>
              </a:ext>
            </a:extLst>
          </p:cNvPr>
          <p:cNvSpPr/>
          <p:nvPr/>
        </p:nvSpPr>
        <p:spPr>
          <a:xfrm>
            <a:off x="10064378" y="6378272"/>
            <a:ext cx="596347" cy="4797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16</a:t>
            </a:r>
          </a:p>
        </p:txBody>
      </p:sp>
      <p:pic>
        <p:nvPicPr>
          <p:cNvPr id="5" name="Picture 4">
            <a:extLst>
              <a:ext uri="{FF2B5EF4-FFF2-40B4-BE49-F238E27FC236}">
                <a16:creationId xmlns:a16="http://schemas.microsoft.com/office/drawing/2014/main" id="{78286992-EF20-DAA9-880C-D87DAA350F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552660"/>
            <a:ext cx="843204" cy="759747"/>
          </a:xfrm>
          <a:prstGeom prst="rect">
            <a:avLst/>
          </a:prstGeom>
        </p:spPr>
      </p:pic>
      <p:pic>
        <p:nvPicPr>
          <p:cNvPr id="6" name="Picture 5">
            <a:extLst>
              <a:ext uri="{FF2B5EF4-FFF2-40B4-BE49-F238E27FC236}">
                <a16:creationId xmlns:a16="http://schemas.microsoft.com/office/drawing/2014/main" id="{C88736CA-8DB1-A1CD-2C3E-71B3055E84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48633" y="162678"/>
            <a:ext cx="1476926" cy="1476926"/>
          </a:xfrm>
          <a:prstGeom prst="rect">
            <a:avLst/>
          </a:prstGeom>
        </p:spPr>
      </p:pic>
    </p:spTree>
    <p:extLst>
      <p:ext uri="{BB962C8B-B14F-4D97-AF65-F5344CB8AC3E}">
        <p14:creationId xmlns:p14="http://schemas.microsoft.com/office/powerpoint/2010/main" val="3757611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4E9B7-E43F-25A3-91C2-EFEC4B7D0FFF}"/>
              </a:ext>
            </a:extLst>
          </p:cNvPr>
          <p:cNvSpPr>
            <a:spLocks noGrp="1"/>
          </p:cNvSpPr>
          <p:nvPr>
            <p:ph type="title"/>
          </p:nvPr>
        </p:nvSpPr>
        <p:spPr>
          <a:xfrm>
            <a:off x="1165519" y="914399"/>
            <a:ext cx="10058400" cy="672835"/>
          </a:xfrm>
        </p:spPr>
        <p:txBody>
          <a:bodyPr>
            <a:normAutofit fontScale="90000"/>
          </a:bodyPr>
          <a:lstStyle/>
          <a:p>
            <a:r>
              <a:rPr lang="en-US" dirty="0"/>
              <a:t>CONCLUSION</a:t>
            </a:r>
          </a:p>
        </p:txBody>
      </p:sp>
      <p:sp>
        <p:nvSpPr>
          <p:cNvPr id="4" name="TextBox 3">
            <a:extLst>
              <a:ext uri="{FF2B5EF4-FFF2-40B4-BE49-F238E27FC236}">
                <a16:creationId xmlns:a16="http://schemas.microsoft.com/office/drawing/2014/main" id="{77D1FFEF-9F13-9944-9760-F5274D045898}"/>
              </a:ext>
            </a:extLst>
          </p:cNvPr>
          <p:cNvSpPr txBox="1"/>
          <p:nvPr/>
        </p:nvSpPr>
        <p:spPr>
          <a:xfrm>
            <a:off x="1278340" y="2229134"/>
            <a:ext cx="8541521" cy="3373359"/>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1800" dirty="0">
                <a:effectLst/>
                <a:ea typeface="Calibri" panose="020F0502020204030204" pitchFamily="34" charset="0"/>
                <a:cs typeface="Times New Roman" panose="02020603050405020304" pitchFamily="18" charset="0"/>
              </a:rPr>
              <a:t>These days object-oriented has become an essential part of software environment. </a:t>
            </a:r>
          </a:p>
          <a:p>
            <a:pPr marL="285750" indent="-285750" algn="just">
              <a:lnSpc>
                <a:spcPct val="150000"/>
              </a:lnSpc>
              <a:buFont typeface="Wingdings" panose="05000000000000000000" pitchFamily="2" charset="2"/>
              <a:buChar char="Ø"/>
            </a:pPr>
            <a:r>
              <a:rPr lang="en-US" sz="1800" dirty="0">
                <a:effectLst/>
                <a:ea typeface="Calibri" panose="020F0502020204030204" pitchFamily="34" charset="0"/>
                <a:cs typeface="Times New Roman" panose="02020603050405020304" pitchFamily="18" charset="0"/>
              </a:rPr>
              <a:t>The major purpose of this research is to explain the performance of less complex models with limited number of features which has been successfully implemented.</a:t>
            </a:r>
            <a:endParaRPr lang="en-US" dirty="0">
              <a:ea typeface="Calibri" panose="020F0502020204030204" pitchFamily="34"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sz="1800" dirty="0">
                <a:effectLst/>
                <a:ea typeface="Calibri" panose="020F0502020204030204" pitchFamily="34" charset="0"/>
                <a:cs typeface="Times New Roman" panose="02020603050405020304" pitchFamily="18" charset="0"/>
              </a:rPr>
              <a:t>Using Machine Learning Techniques Logistic Regression has shown the best performance and contains the highest amount of accuracy among majority metric</a:t>
            </a:r>
          </a:p>
          <a:p>
            <a:pPr marL="285750" indent="-285750" algn="just">
              <a:lnSpc>
                <a:spcPct val="150000"/>
              </a:lnSpc>
              <a:buFont typeface="Wingdings" panose="05000000000000000000" pitchFamily="2" charset="2"/>
              <a:buChar char="Ø"/>
            </a:pPr>
            <a:r>
              <a:rPr lang="en-US" sz="1800" dirty="0">
                <a:effectLst/>
                <a:ea typeface="Calibri" panose="020F0502020204030204" pitchFamily="34" charset="0"/>
                <a:cs typeface="Times New Roman" panose="02020603050405020304" pitchFamily="18" charset="0"/>
              </a:rPr>
              <a:t>K-Nearest Neighbor contains the highest accuracy after logistic regression.</a:t>
            </a:r>
            <a:endParaRPr lang="en-US" dirty="0">
              <a:ea typeface="Calibri" panose="020F0502020204030204" pitchFamily="34"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sz="1800" dirty="0">
                <a:effectLst/>
                <a:ea typeface="Calibri" panose="020F0502020204030204" pitchFamily="34" charset="0"/>
                <a:cs typeface="Times New Roman" panose="02020603050405020304" pitchFamily="18" charset="0"/>
              </a:rPr>
              <a:t>Applying </a:t>
            </a:r>
            <a:r>
              <a:rPr lang="en-US" dirty="0">
                <a:ea typeface="Calibri" panose="020F0502020204030204" pitchFamily="34" charset="0"/>
                <a:cs typeface="Times New Roman" panose="02020603050405020304" pitchFamily="18" charset="0"/>
              </a:rPr>
              <a:t>more </a:t>
            </a:r>
            <a:r>
              <a:rPr lang="en-US" sz="1800" dirty="0">
                <a:effectLst/>
                <a:ea typeface="Calibri" panose="020F0502020204030204" pitchFamily="34" charset="0"/>
                <a:cs typeface="Times New Roman" panose="02020603050405020304" pitchFamily="18" charset="0"/>
              </a:rPr>
              <a:t>algorithms in future creates a high possibility that the accuracy will be upgraded.</a:t>
            </a:r>
            <a:endParaRPr lang="en-US" dirty="0"/>
          </a:p>
        </p:txBody>
      </p:sp>
      <p:sp>
        <p:nvSpPr>
          <p:cNvPr id="3" name="Rectangle 2">
            <a:extLst>
              <a:ext uri="{FF2B5EF4-FFF2-40B4-BE49-F238E27FC236}">
                <a16:creationId xmlns:a16="http://schemas.microsoft.com/office/drawing/2014/main" id="{F18FDD4E-9C63-41A4-2947-AB97BC90FD64}"/>
              </a:ext>
            </a:extLst>
          </p:cNvPr>
          <p:cNvSpPr/>
          <p:nvPr/>
        </p:nvSpPr>
        <p:spPr>
          <a:xfrm>
            <a:off x="10064378" y="6378272"/>
            <a:ext cx="596347" cy="4797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17</a:t>
            </a:r>
          </a:p>
        </p:txBody>
      </p:sp>
      <p:pic>
        <p:nvPicPr>
          <p:cNvPr id="5" name="Picture 4">
            <a:extLst>
              <a:ext uri="{FF2B5EF4-FFF2-40B4-BE49-F238E27FC236}">
                <a16:creationId xmlns:a16="http://schemas.microsoft.com/office/drawing/2014/main" id="{78286992-EF20-DAA9-880C-D87DAA350F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552660"/>
            <a:ext cx="843204" cy="759747"/>
          </a:xfrm>
          <a:prstGeom prst="rect">
            <a:avLst/>
          </a:prstGeom>
        </p:spPr>
      </p:pic>
      <p:pic>
        <p:nvPicPr>
          <p:cNvPr id="6" name="Picture 5">
            <a:extLst>
              <a:ext uri="{FF2B5EF4-FFF2-40B4-BE49-F238E27FC236}">
                <a16:creationId xmlns:a16="http://schemas.microsoft.com/office/drawing/2014/main" id="{2A1FCAA2-6B61-9583-DD6E-0C91B16F20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48633" y="162678"/>
            <a:ext cx="1476926" cy="1476926"/>
          </a:xfrm>
          <a:prstGeom prst="rect">
            <a:avLst/>
          </a:prstGeom>
        </p:spPr>
      </p:pic>
    </p:spTree>
    <p:extLst>
      <p:ext uri="{BB962C8B-B14F-4D97-AF65-F5344CB8AC3E}">
        <p14:creationId xmlns:p14="http://schemas.microsoft.com/office/powerpoint/2010/main" val="30492174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4E06B-FBEC-4B16-885A-2C804BC4492B}"/>
              </a:ext>
            </a:extLst>
          </p:cNvPr>
          <p:cNvSpPr>
            <a:spLocks noGrp="1"/>
          </p:cNvSpPr>
          <p:nvPr>
            <p:ph type="title"/>
          </p:nvPr>
        </p:nvSpPr>
        <p:spPr/>
        <p:txBody>
          <a:bodyPr/>
          <a:lstStyle/>
          <a:p>
            <a:r>
              <a:rPr lang="en-US" b="1" dirty="0"/>
              <a:t>REFERENCE</a:t>
            </a:r>
            <a:endParaRPr lang="en-US" dirty="0"/>
          </a:p>
        </p:txBody>
      </p:sp>
      <p:pic>
        <p:nvPicPr>
          <p:cNvPr id="4" name="Picture 3">
            <a:extLst>
              <a:ext uri="{FF2B5EF4-FFF2-40B4-BE49-F238E27FC236}">
                <a16:creationId xmlns:a16="http://schemas.microsoft.com/office/drawing/2014/main" id="{6C0E469F-32E7-4C87-849E-28BBEC678E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4941" y="165832"/>
            <a:ext cx="1450758" cy="1450758"/>
          </a:xfrm>
          <a:prstGeom prst="rect">
            <a:avLst/>
          </a:prstGeom>
        </p:spPr>
      </p:pic>
      <p:sp>
        <p:nvSpPr>
          <p:cNvPr id="9" name="Rectangle 8">
            <a:extLst>
              <a:ext uri="{FF2B5EF4-FFF2-40B4-BE49-F238E27FC236}">
                <a16:creationId xmlns:a16="http://schemas.microsoft.com/office/drawing/2014/main" id="{604376EC-C95C-4CA5-A733-96F3DCC9D03E}"/>
              </a:ext>
            </a:extLst>
          </p:cNvPr>
          <p:cNvSpPr/>
          <p:nvPr/>
        </p:nvSpPr>
        <p:spPr>
          <a:xfrm>
            <a:off x="11072173" y="6404440"/>
            <a:ext cx="491015" cy="4535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18</a:t>
            </a:r>
          </a:p>
        </p:txBody>
      </p:sp>
      <p:pic>
        <p:nvPicPr>
          <p:cNvPr id="3" name="Picture 2">
            <a:extLst>
              <a:ext uri="{FF2B5EF4-FFF2-40B4-BE49-F238E27FC236}">
                <a16:creationId xmlns:a16="http://schemas.microsoft.com/office/drawing/2014/main" id="{951AAB35-5DDF-25E1-5064-EC849807D1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499652"/>
            <a:ext cx="902036" cy="812756"/>
          </a:xfrm>
          <a:prstGeom prst="rect">
            <a:avLst/>
          </a:prstGeom>
        </p:spPr>
      </p:pic>
      <p:sp>
        <p:nvSpPr>
          <p:cNvPr id="8" name="TextBox 7">
            <a:extLst>
              <a:ext uri="{FF2B5EF4-FFF2-40B4-BE49-F238E27FC236}">
                <a16:creationId xmlns:a16="http://schemas.microsoft.com/office/drawing/2014/main" id="{B116B2D1-2DC2-F976-7F10-784E154CB87E}"/>
              </a:ext>
            </a:extLst>
          </p:cNvPr>
          <p:cNvSpPr txBox="1"/>
          <p:nvPr/>
        </p:nvSpPr>
        <p:spPr>
          <a:xfrm>
            <a:off x="1092199" y="1959348"/>
            <a:ext cx="9434334" cy="5632311"/>
          </a:xfrm>
          <a:prstGeom prst="rect">
            <a:avLst/>
          </a:prstGeom>
          <a:noFill/>
        </p:spPr>
        <p:txBody>
          <a:bodyPr wrap="square" rtlCol="0">
            <a:spAutoFit/>
          </a:bodyPr>
          <a:lstStyle/>
          <a:p>
            <a:pPr marL="342900" indent="-342900" algn="just">
              <a:buFont typeface="+mj-lt"/>
              <a:buAutoNum type="arabicPeriod"/>
            </a:pPr>
            <a:r>
              <a:rPr lang="en-AU" sz="1800" dirty="0">
                <a:effectLst/>
                <a:latin typeface="Times New Roman" panose="02020603050405020304" pitchFamily="18" charset="0"/>
                <a:ea typeface="Times New Roman" panose="02020603050405020304" pitchFamily="18" charset="0"/>
              </a:rPr>
              <a:t>S. K. Santosh S. Rathore, “Software fault prediction based on the dynamic selection of learning technique: findings from the eclipse project study,” The Author(s), under exclusive licence to Springer </a:t>
            </a:r>
            <a:r>
              <a:rPr lang="en-AU" sz="1800" dirty="0" err="1">
                <a:effectLst/>
                <a:latin typeface="Times New Roman" panose="02020603050405020304" pitchFamily="18" charset="0"/>
                <a:ea typeface="Times New Roman" panose="02020603050405020304" pitchFamily="18" charset="0"/>
              </a:rPr>
              <a:t>Science+Business</a:t>
            </a:r>
            <a:r>
              <a:rPr lang="en-AU" sz="1800" dirty="0">
                <a:effectLst/>
                <a:latin typeface="Times New Roman" panose="02020603050405020304" pitchFamily="18" charset="0"/>
                <a:ea typeface="Times New Roman" panose="02020603050405020304" pitchFamily="18" charset="0"/>
              </a:rPr>
              <a:t> Media, LLC, part of Springer Nature 2021, 2021.</a:t>
            </a:r>
          </a:p>
          <a:p>
            <a:pPr marL="342900" indent="-342900" algn="just">
              <a:buFont typeface="+mj-lt"/>
              <a:buAutoNum type="arabicPeriod"/>
            </a:pPr>
            <a:r>
              <a:rPr lang="en-AU" sz="1800" dirty="0">
                <a:effectLst/>
                <a:latin typeface="Times New Roman" panose="02020603050405020304" pitchFamily="18" charset="0"/>
                <a:ea typeface="Times New Roman" panose="02020603050405020304" pitchFamily="18" charset="0"/>
              </a:rPr>
              <a:t>A. K. ,. Y. S. Ruchika Malhotra, “Empirical validation of object-oriented metrics for predicting fault proneness at different severity levels using support vector machines ,” The Society for Reliability Engineering, Quality and Operations Management (SREQOM), India and The Division of Operation and Maintenance, Lulea University of Technology, Sweden 2011, 2011.</a:t>
            </a:r>
            <a:endParaRPr lang="en-AU" dirty="0">
              <a:latin typeface="Times New Roman" panose="02020603050405020304" pitchFamily="18" charset="0"/>
              <a:ea typeface="Times New Roman" panose="02020603050405020304" pitchFamily="18" charset="0"/>
            </a:endParaRPr>
          </a:p>
          <a:p>
            <a:pPr marL="342900" indent="-342900" algn="just">
              <a:buFont typeface="+mj-lt"/>
              <a:buAutoNum type="arabicPeriod"/>
            </a:pPr>
            <a:r>
              <a:rPr lang="en-AU" sz="1800" dirty="0">
                <a:effectLst/>
                <a:latin typeface="Times New Roman" panose="02020603050405020304" pitchFamily="18" charset="0"/>
                <a:ea typeface="Times New Roman" panose="02020603050405020304" pitchFamily="18" charset="0"/>
              </a:rPr>
              <a:t>G. V. Dr. M.P. </a:t>
            </a:r>
            <a:r>
              <a:rPr lang="en-AU" sz="1800" dirty="0" err="1">
                <a:effectLst/>
                <a:latin typeface="Times New Roman" panose="02020603050405020304" pitchFamily="18" charset="0"/>
                <a:ea typeface="Times New Roman" panose="02020603050405020304" pitchFamily="18" charset="0"/>
              </a:rPr>
              <a:t>Thapaliyal</a:t>
            </a:r>
            <a:r>
              <a:rPr lang="en-AU" sz="1800" dirty="0">
                <a:effectLst/>
                <a:latin typeface="Times New Roman" panose="02020603050405020304" pitchFamily="18" charset="0"/>
                <a:ea typeface="Times New Roman" panose="02020603050405020304" pitchFamily="18" charset="0"/>
              </a:rPr>
              <a:t>, “Software Defects and Object Oriented Metrics - An Empirical Analysis,” International Journal of Computer Applications ·, 2010.</a:t>
            </a:r>
          </a:p>
          <a:p>
            <a:pPr marL="342900" indent="-342900" algn="just">
              <a:buFont typeface="+mj-lt"/>
              <a:buAutoNum type="arabicPeriod"/>
            </a:pPr>
            <a:r>
              <a:rPr lang="en-AU" sz="1800" dirty="0">
                <a:effectLst/>
                <a:latin typeface="Times New Roman" panose="02020603050405020304" pitchFamily="18" charset="0"/>
                <a:ea typeface="Times New Roman" panose="02020603050405020304" pitchFamily="18" charset="0"/>
              </a:rPr>
              <a:t>Y. S. A. K. a. R. M. K. K. Aggarwal, “Empirical Analysis for Investigating the Effect of Object-Oriented Metrics on Fault Proneness: A Replicated Case Study Research,” University School of Information Technology, GGS Indraprastha University, Delhi 110403, India, 2008.</a:t>
            </a:r>
            <a:endParaRPr lang="en-AU" dirty="0">
              <a:latin typeface="Times New Roman" panose="02020603050405020304" pitchFamily="18" charset="0"/>
              <a:ea typeface="Times New Roman" panose="02020603050405020304" pitchFamily="18" charset="0"/>
            </a:endParaRPr>
          </a:p>
          <a:p>
            <a:pPr marL="342900" indent="-342900" algn="just">
              <a:buFont typeface="+mj-lt"/>
              <a:buAutoNum type="arabicPeriod"/>
            </a:pPr>
            <a:r>
              <a:rPr lang="en-AU" sz="1800" dirty="0">
                <a:effectLst/>
                <a:latin typeface="Times New Roman" panose="02020603050405020304" pitchFamily="18" charset="0"/>
                <a:ea typeface="Times New Roman" panose="02020603050405020304" pitchFamily="18" charset="0"/>
              </a:rPr>
              <a:t>A. K. ,. R. M. Yogesh Singh, “Empirical validation of object-oriented metrics for predicting fault proneness models ,” Springer </a:t>
            </a:r>
            <a:r>
              <a:rPr lang="en-AU" sz="1800" dirty="0" err="1">
                <a:effectLst/>
                <a:latin typeface="Times New Roman" panose="02020603050405020304" pitchFamily="18" charset="0"/>
                <a:ea typeface="Times New Roman" panose="02020603050405020304" pitchFamily="18" charset="0"/>
              </a:rPr>
              <a:t>Science+Business</a:t>
            </a:r>
            <a:r>
              <a:rPr lang="en-AU" sz="1800" dirty="0">
                <a:effectLst/>
                <a:latin typeface="Times New Roman" panose="02020603050405020304" pitchFamily="18" charset="0"/>
                <a:ea typeface="Times New Roman" panose="02020603050405020304" pitchFamily="18" charset="0"/>
              </a:rPr>
              <a:t> Media, LLC 2009, 2009.</a:t>
            </a:r>
          </a:p>
          <a:p>
            <a:pPr marL="342900" indent="-342900" algn="just">
              <a:buFont typeface="+mj-lt"/>
              <a:buAutoNum type="arabicPeriod"/>
            </a:pPr>
            <a:endParaRPr lang="en-AU" dirty="0">
              <a:latin typeface="Times New Roman" panose="02020603050405020304" pitchFamily="18" charset="0"/>
              <a:ea typeface="Times New Roman" panose="02020603050405020304" pitchFamily="18" charset="0"/>
            </a:endParaRPr>
          </a:p>
          <a:p>
            <a:pPr marL="342900" indent="-342900" algn="just">
              <a:buFont typeface="+mj-lt"/>
              <a:buAutoNum type="arabicPeriod"/>
            </a:pPr>
            <a:endParaRPr lang="en-AU" sz="1800" dirty="0">
              <a:effectLst/>
              <a:latin typeface="Times New Roman" panose="02020603050405020304" pitchFamily="18" charset="0"/>
              <a:ea typeface="Times New Roman" panose="02020603050405020304" pitchFamily="18" charset="0"/>
            </a:endParaRPr>
          </a:p>
          <a:p>
            <a:pPr marL="342900" indent="-342900" algn="just">
              <a:buFont typeface="+mj-lt"/>
              <a:buAutoNum type="arabicPeriod"/>
            </a:pPr>
            <a:endParaRPr lang="en-AU" sz="1800" dirty="0">
              <a:effectLst/>
              <a:latin typeface="Times New Roman" panose="02020603050405020304" pitchFamily="18" charset="0"/>
              <a:ea typeface="Times New Roman" panose="02020603050405020304" pitchFamily="18" charset="0"/>
            </a:endParaRPr>
          </a:p>
          <a:p>
            <a:pPr marL="342900" indent="-342900" algn="just">
              <a:buFont typeface="+mj-lt"/>
              <a:buAutoNum type="arabicPeriod"/>
            </a:pPr>
            <a:endParaRPr lang="en-AU" sz="1800" dirty="0">
              <a:effectLst/>
              <a:latin typeface="Times New Roman" panose="02020603050405020304" pitchFamily="18" charset="0"/>
              <a:ea typeface="Times New Roman" panose="02020603050405020304" pitchFamily="18" charset="0"/>
            </a:endParaRPr>
          </a:p>
          <a:p>
            <a:pPr marL="342900" indent="-342900" algn="just">
              <a:buFont typeface="+mj-lt"/>
              <a:buAutoNum type="arabicPeriod"/>
            </a:pPr>
            <a:endParaRPr lang="en-AU" sz="1800" dirty="0">
              <a:effectLst/>
              <a:latin typeface="Times New Roman" panose="02020603050405020304" pitchFamily="18" charset="0"/>
              <a:ea typeface="Times New Roman" panose="02020603050405020304" pitchFamily="18" charset="0"/>
            </a:endParaRPr>
          </a:p>
          <a:p>
            <a:pPr marL="342900" indent="-342900" algn="just">
              <a:buFont typeface="+mj-lt"/>
              <a:buAutoNum type="arabicPeriod"/>
            </a:pPr>
            <a:endParaRPr lang="en-US" dirty="0"/>
          </a:p>
        </p:txBody>
      </p:sp>
    </p:spTree>
    <p:extLst>
      <p:ext uri="{BB962C8B-B14F-4D97-AF65-F5344CB8AC3E}">
        <p14:creationId xmlns:p14="http://schemas.microsoft.com/office/powerpoint/2010/main" val="15992703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8FD5-BFA9-4DFB-47D1-F7BBD0FC0336}"/>
              </a:ext>
            </a:extLst>
          </p:cNvPr>
          <p:cNvSpPr>
            <a:spLocks noGrp="1"/>
          </p:cNvSpPr>
          <p:nvPr>
            <p:ph type="title"/>
          </p:nvPr>
        </p:nvSpPr>
        <p:spPr>
          <a:xfrm>
            <a:off x="951704" y="0"/>
            <a:ext cx="10058400" cy="1450757"/>
          </a:xfrm>
        </p:spPr>
        <p:txBody>
          <a:bodyPr/>
          <a:lstStyle/>
          <a:p>
            <a:r>
              <a:rPr lang="en-US" b="1" dirty="0"/>
              <a:t>REFERENCE</a:t>
            </a:r>
            <a:endParaRPr lang="en-US" dirty="0"/>
          </a:p>
        </p:txBody>
      </p:sp>
      <p:sp>
        <p:nvSpPr>
          <p:cNvPr id="3" name="TextBox 2">
            <a:extLst>
              <a:ext uri="{FF2B5EF4-FFF2-40B4-BE49-F238E27FC236}">
                <a16:creationId xmlns:a16="http://schemas.microsoft.com/office/drawing/2014/main" id="{B0516880-E1E3-7D67-79D4-E0B4D77E5C5A}"/>
              </a:ext>
            </a:extLst>
          </p:cNvPr>
          <p:cNvSpPr txBox="1"/>
          <p:nvPr/>
        </p:nvSpPr>
        <p:spPr>
          <a:xfrm>
            <a:off x="951704" y="1913653"/>
            <a:ext cx="10396330" cy="5355312"/>
          </a:xfrm>
          <a:prstGeom prst="rect">
            <a:avLst/>
          </a:prstGeom>
          <a:noFill/>
        </p:spPr>
        <p:txBody>
          <a:bodyPr wrap="square" rtlCol="0">
            <a:spAutoFit/>
          </a:bodyPr>
          <a:lstStyle/>
          <a:p>
            <a:pPr algn="just"/>
            <a:r>
              <a:rPr lang="en-AU" sz="1800" dirty="0">
                <a:effectLst/>
                <a:latin typeface="Times New Roman" panose="02020603050405020304" pitchFamily="18" charset="0"/>
                <a:ea typeface="Times New Roman" panose="02020603050405020304" pitchFamily="18" charset="0"/>
              </a:rPr>
              <a:t>6.  D. D. S. Marian JURECZKO, “Using Object-Oriented Design Metrics to Predict Software Defects,”                  </a:t>
            </a:r>
            <a:r>
              <a:rPr lang="en-AU" sz="1800" dirty="0" err="1">
                <a:effectLst/>
                <a:latin typeface="Times New Roman" panose="02020603050405020304" pitchFamily="18" charset="0"/>
                <a:ea typeface="Times New Roman" panose="02020603050405020304" pitchFamily="18" charset="0"/>
              </a:rPr>
              <a:t>Oficyna</a:t>
            </a:r>
            <a:r>
              <a:rPr lang="en-AU" sz="1800" dirty="0">
                <a:effectLst/>
                <a:latin typeface="Times New Roman" panose="02020603050405020304" pitchFamily="18" charset="0"/>
                <a:ea typeface="Times New Roman" panose="02020603050405020304" pitchFamily="18" charset="0"/>
              </a:rPr>
              <a:t> </a:t>
            </a:r>
            <a:r>
              <a:rPr lang="en-AU" sz="1800" dirty="0" err="1">
                <a:effectLst/>
                <a:latin typeface="Times New Roman" panose="02020603050405020304" pitchFamily="18" charset="0"/>
                <a:ea typeface="Times New Roman" panose="02020603050405020304" pitchFamily="18" charset="0"/>
              </a:rPr>
              <a:t>Wydawnicza</a:t>
            </a:r>
            <a:r>
              <a:rPr lang="en-AU" sz="1800" dirty="0">
                <a:effectLst/>
                <a:latin typeface="Times New Roman" panose="02020603050405020304" pitchFamily="18" charset="0"/>
                <a:ea typeface="Times New Roman" panose="02020603050405020304" pitchFamily="18" charset="0"/>
              </a:rPr>
              <a:t> </a:t>
            </a:r>
            <a:r>
              <a:rPr lang="en-AU" sz="1800" dirty="0" err="1">
                <a:effectLst/>
                <a:latin typeface="Times New Roman" panose="02020603050405020304" pitchFamily="18" charset="0"/>
                <a:ea typeface="Times New Roman" panose="02020603050405020304" pitchFamily="18" charset="0"/>
              </a:rPr>
              <a:t>Politechniki</a:t>
            </a:r>
            <a:r>
              <a:rPr lang="en-AU" sz="1800" dirty="0">
                <a:effectLst/>
                <a:latin typeface="Times New Roman" panose="02020603050405020304" pitchFamily="18" charset="0"/>
                <a:ea typeface="Times New Roman" panose="02020603050405020304" pitchFamily="18" charset="0"/>
              </a:rPr>
              <a:t> </a:t>
            </a:r>
            <a:r>
              <a:rPr lang="en-AU" sz="1800" dirty="0" err="1">
                <a:effectLst/>
                <a:latin typeface="Times New Roman" panose="02020603050405020304" pitchFamily="18" charset="0"/>
                <a:ea typeface="Times New Roman" panose="02020603050405020304" pitchFamily="18" charset="0"/>
              </a:rPr>
              <a:t>Wrocławskiej</a:t>
            </a:r>
            <a:r>
              <a:rPr lang="en-AU" sz="1800" dirty="0">
                <a:effectLst/>
                <a:latin typeface="Times New Roman" panose="02020603050405020304" pitchFamily="18" charset="0"/>
                <a:ea typeface="Times New Roman" panose="02020603050405020304" pitchFamily="18" charset="0"/>
              </a:rPr>
              <a:t>, 2010.</a:t>
            </a:r>
            <a:endParaRPr lang="en-AU" dirty="0">
              <a:latin typeface="Times New Roman" panose="02020603050405020304" pitchFamily="18" charset="0"/>
              <a:ea typeface="Times New Roman" panose="02020603050405020304" pitchFamily="18" charset="0"/>
            </a:endParaRPr>
          </a:p>
          <a:p>
            <a:pPr marL="342900" indent="-342900" algn="just">
              <a:buFont typeface="+mj-lt"/>
              <a:buAutoNum type="arabicPeriod"/>
            </a:pPr>
            <a:endParaRPr lang="en-AU" sz="1800" dirty="0">
              <a:effectLst/>
              <a:latin typeface="Times New Roman" panose="02020603050405020304" pitchFamily="18" charset="0"/>
              <a:ea typeface="Times New Roman" panose="02020603050405020304" pitchFamily="18" charset="0"/>
            </a:endParaRPr>
          </a:p>
          <a:p>
            <a:pPr algn="just"/>
            <a:r>
              <a:rPr lang="en-AU" sz="1800" dirty="0">
                <a:effectLst/>
                <a:latin typeface="Times New Roman" panose="02020603050405020304" pitchFamily="18" charset="0"/>
                <a:ea typeface="Times New Roman" panose="02020603050405020304" pitchFamily="18" charset="0"/>
              </a:rPr>
              <a:t>7. R. P. A. Z. Thomas Zimmermann, “Predicting Defects for Eclipse,” Third International Workshop on  Predictor Models in Software Engineering, 2007</a:t>
            </a:r>
          </a:p>
          <a:p>
            <a:pPr marL="342900" indent="-342900" algn="just">
              <a:buFont typeface="+mj-lt"/>
              <a:buAutoNum type="arabicPeriod"/>
            </a:pPr>
            <a:endParaRPr lang="en-AU" dirty="0">
              <a:latin typeface="Times New Roman" panose="02020603050405020304" pitchFamily="18" charset="0"/>
              <a:ea typeface="Times New Roman" panose="02020603050405020304" pitchFamily="18" charset="0"/>
            </a:endParaRPr>
          </a:p>
          <a:p>
            <a:pPr algn="just"/>
            <a:r>
              <a:rPr lang="en-AU" sz="1800" dirty="0">
                <a:effectLst/>
                <a:latin typeface="Times New Roman" panose="02020603050405020304" pitchFamily="18" charset="0"/>
                <a:ea typeface="Times New Roman" panose="02020603050405020304" pitchFamily="18" charset="0"/>
              </a:rPr>
              <a:t>8. Z. M. J. W. M. I. B. A. a. A. E. H. Emad Shihab, “Understanding the Impact of Code and Process Metrics on Post-release Defects: A Case Study on the Eclipse Project,” Software Analysis and Intelligence Lab, 2010.</a:t>
            </a:r>
          </a:p>
          <a:p>
            <a:pPr marL="342900" indent="-342900" algn="just">
              <a:buFont typeface="+mj-lt"/>
              <a:buAutoNum type="arabicPeriod"/>
            </a:pPr>
            <a:endParaRPr lang="en-AU" dirty="0">
              <a:latin typeface="Times New Roman" panose="02020603050405020304" pitchFamily="18" charset="0"/>
              <a:ea typeface="Times New Roman" panose="02020603050405020304" pitchFamily="18" charset="0"/>
            </a:endParaRPr>
          </a:p>
          <a:p>
            <a:pPr algn="just"/>
            <a:r>
              <a:rPr lang="en-AU" sz="1800" dirty="0">
                <a:effectLst/>
                <a:latin typeface="Times New Roman" panose="02020603050405020304" pitchFamily="18" charset="0"/>
                <a:ea typeface="Times New Roman" panose="02020603050405020304" pitchFamily="18" charset="0"/>
              </a:rPr>
              <a:t>9. R. M. •. A. K. •. Y. Singh, “Empirical validation of object-oriented metrics for predicting fault proneness at different severity levels using support vector machines,” The Society for Reliability Engineering, Quality and Operations Management (SREQOM), India and The Division of Operation and Management, 2011.</a:t>
            </a:r>
          </a:p>
          <a:p>
            <a:pPr algn="just"/>
            <a:endParaRPr lang="en-AU" sz="1800" dirty="0">
              <a:effectLst/>
              <a:latin typeface="Times New Roman" panose="02020603050405020304" pitchFamily="18" charset="0"/>
              <a:ea typeface="Times New Roman" panose="02020603050405020304" pitchFamily="18" charset="0"/>
            </a:endParaRPr>
          </a:p>
          <a:p>
            <a:pPr algn="just"/>
            <a:r>
              <a:rPr lang="en-AU" dirty="0">
                <a:latin typeface="Times New Roman" panose="02020603050405020304" pitchFamily="18" charset="0"/>
                <a:ea typeface="Times New Roman" panose="02020603050405020304" pitchFamily="18" charset="0"/>
              </a:rPr>
              <a:t>10. </a:t>
            </a:r>
            <a:r>
              <a:rPr lang="en-AU" sz="1800" dirty="0">
                <a:effectLst/>
                <a:latin typeface="Times New Roman" panose="02020603050405020304" pitchFamily="18" charset="0"/>
                <a:ea typeface="Times New Roman" panose="02020603050405020304" pitchFamily="18" charset="0"/>
              </a:rPr>
              <a:t>D. L. G. a. K. SAXENA, “Software bug prediction using object-oriented metrics,” Indian Academy of Sciences, 2016.</a:t>
            </a:r>
          </a:p>
          <a:p>
            <a:pPr marL="342900" indent="-342900" algn="just">
              <a:buFont typeface="+mj-lt"/>
              <a:buAutoNum type="arabicPeriod"/>
            </a:pPr>
            <a:endParaRPr lang="en-AU" sz="1800" dirty="0">
              <a:effectLst/>
              <a:latin typeface="Times New Roman" panose="02020603050405020304" pitchFamily="18" charset="0"/>
              <a:ea typeface="Times New Roman" panose="02020603050405020304" pitchFamily="18" charset="0"/>
            </a:endParaRPr>
          </a:p>
          <a:p>
            <a:pPr marL="342900" indent="-342900" algn="just">
              <a:buFont typeface="+mj-lt"/>
              <a:buAutoNum type="arabicPeriod"/>
            </a:pPr>
            <a:endParaRPr lang="en-AU" sz="1800" dirty="0">
              <a:effectLst/>
              <a:latin typeface="Times New Roman" panose="02020603050405020304" pitchFamily="18" charset="0"/>
              <a:ea typeface="Times New Roman" panose="02020603050405020304" pitchFamily="18" charset="0"/>
            </a:endParaRPr>
          </a:p>
          <a:p>
            <a:pPr algn="just"/>
            <a:endParaRPr lang="en-AU" sz="1800" dirty="0">
              <a:effectLst/>
              <a:latin typeface="Times New Roman" panose="02020603050405020304" pitchFamily="18" charset="0"/>
              <a:ea typeface="Times New Roman" panose="02020603050405020304" pitchFamily="18" charset="0"/>
            </a:endParaRPr>
          </a:p>
          <a:p>
            <a:pPr algn="just"/>
            <a:r>
              <a:rPr lang="en-US" dirty="0"/>
              <a:t> </a:t>
            </a:r>
          </a:p>
        </p:txBody>
      </p:sp>
      <p:sp>
        <p:nvSpPr>
          <p:cNvPr id="4" name="Rectangle 3">
            <a:extLst>
              <a:ext uri="{FF2B5EF4-FFF2-40B4-BE49-F238E27FC236}">
                <a16:creationId xmlns:a16="http://schemas.microsoft.com/office/drawing/2014/main" id="{A3C63F7F-002F-1AC6-A349-80AB0771D907}"/>
              </a:ext>
            </a:extLst>
          </p:cNvPr>
          <p:cNvSpPr/>
          <p:nvPr/>
        </p:nvSpPr>
        <p:spPr>
          <a:xfrm>
            <a:off x="10064378" y="6378272"/>
            <a:ext cx="596347" cy="4797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19</a:t>
            </a:r>
          </a:p>
        </p:txBody>
      </p:sp>
      <p:pic>
        <p:nvPicPr>
          <p:cNvPr id="5" name="Picture 4">
            <a:extLst>
              <a:ext uri="{FF2B5EF4-FFF2-40B4-BE49-F238E27FC236}">
                <a16:creationId xmlns:a16="http://schemas.microsoft.com/office/drawing/2014/main" id="{5AAEA4F5-8102-4A79-BAFD-BD6FAE4BAE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499652"/>
            <a:ext cx="902036" cy="812756"/>
          </a:xfrm>
          <a:prstGeom prst="rect">
            <a:avLst/>
          </a:prstGeom>
        </p:spPr>
      </p:pic>
      <p:pic>
        <p:nvPicPr>
          <p:cNvPr id="6" name="Picture 5">
            <a:extLst>
              <a:ext uri="{FF2B5EF4-FFF2-40B4-BE49-F238E27FC236}">
                <a16:creationId xmlns:a16="http://schemas.microsoft.com/office/drawing/2014/main" id="{2B01A7FF-A1D0-FF7A-A947-693FEB2302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48633" y="162678"/>
            <a:ext cx="1476926" cy="1476926"/>
          </a:xfrm>
          <a:prstGeom prst="rect">
            <a:avLst/>
          </a:prstGeom>
        </p:spPr>
      </p:pic>
    </p:spTree>
    <p:extLst>
      <p:ext uri="{BB962C8B-B14F-4D97-AF65-F5344CB8AC3E}">
        <p14:creationId xmlns:p14="http://schemas.microsoft.com/office/powerpoint/2010/main" val="682692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8FD5-BFA9-4DFB-47D1-F7BBD0FC0336}"/>
              </a:ext>
            </a:extLst>
          </p:cNvPr>
          <p:cNvSpPr>
            <a:spLocks noGrp="1"/>
          </p:cNvSpPr>
          <p:nvPr>
            <p:ph type="title"/>
          </p:nvPr>
        </p:nvSpPr>
        <p:spPr>
          <a:xfrm>
            <a:off x="1066800" y="198783"/>
            <a:ext cx="10058400" cy="1450757"/>
          </a:xfrm>
        </p:spPr>
        <p:txBody>
          <a:bodyPr/>
          <a:lstStyle/>
          <a:p>
            <a:r>
              <a:rPr lang="en-US" b="1" dirty="0"/>
              <a:t>REFERENCE</a:t>
            </a:r>
            <a:endParaRPr lang="en-US" dirty="0"/>
          </a:p>
        </p:txBody>
      </p:sp>
      <p:sp>
        <p:nvSpPr>
          <p:cNvPr id="3" name="TextBox 2">
            <a:extLst>
              <a:ext uri="{FF2B5EF4-FFF2-40B4-BE49-F238E27FC236}">
                <a16:creationId xmlns:a16="http://schemas.microsoft.com/office/drawing/2014/main" id="{B0516880-E1E3-7D67-79D4-E0B4D77E5C5A}"/>
              </a:ext>
            </a:extLst>
          </p:cNvPr>
          <p:cNvSpPr txBox="1"/>
          <p:nvPr/>
        </p:nvSpPr>
        <p:spPr>
          <a:xfrm>
            <a:off x="1066800" y="1909104"/>
            <a:ext cx="10396330" cy="5078313"/>
          </a:xfrm>
          <a:prstGeom prst="rect">
            <a:avLst/>
          </a:prstGeom>
          <a:noFill/>
        </p:spPr>
        <p:txBody>
          <a:bodyPr wrap="square" rtlCol="0">
            <a:spAutoFit/>
          </a:bodyPr>
          <a:lstStyle/>
          <a:p>
            <a:pPr algn="just"/>
            <a:r>
              <a:rPr lang="en-AU" sz="1800" dirty="0">
                <a:effectLst/>
                <a:latin typeface="Times New Roman" panose="02020603050405020304" pitchFamily="18" charset="0"/>
                <a:ea typeface="Times New Roman" panose="02020603050405020304" pitchFamily="18" charset="0"/>
              </a:rPr>
              <a:t>11. K. G.-P. ,. D. G. D. a. T. D. Yasser Ali </a:t>
            </a:r>
            <a:r>
              <a:rPr lang="en-AU" sz="1800" dirty="0" err="1">
                <a:effectLst/>
                <a:latin typeface="Times New Roman" panose="02020603050405020304" pitchFamily="18" charset="0"/>
                <a:ea typeface="Times New Roman" panose="02020603050405020304" pitchFamily="18" charset="0"/>
              </a:rPr>
              <a:t>Alshehri</a:t>
            </a:r>
            <a:r>
              <a:rPr lang="en-AU" sz="1800" dirty="0">
                <a:effectLst/>
                <a:latin typeface="Times New Roman" panose="02020603050405020304" pitchFamily="18" charset="0"/>
                <a:ea typeface="Times New Roman" panose="02020603050405020304" pitchFamily="18" charset="0"/>
              </a:rPr>
              <a:t>, “Applying machine learning to predict software fault proneness using change </a:t>
            </a:r>
            <a:r>
              <a:rPr lang="en-AU" sz="1800" dirty="0" err="1">
                <a:effectLst/>
                <a:latin typeface="Times New Roman" panose="02020603050405020304" pitchFamily="18" charset="0"/>
                <a:ea typeface="Times New Roman" panose="02020603050405020304" pitchFamily="18" charset="0"/>
              </a:rPr>
              <a:t>metrics,static</a:t>
            </a:r>
            <a:r>
              <a:rPr lang="en-AU" sz="1800" dirty="0">
                <a:effectLst/>
                <a:latin typeface="Times New Roman" panose="02020603050405020304" pitchFamily="18" charset="0"/>
                <a:ea typeface="Times New Roman" panose="02020603050405020304" pitchFamily="18" charset="0"/>
              </a:rPr>
              <a:t> code metrics, and a combination of them,” 2018 IEEE, 2018.</a:t>
            </a:r>
          </a:p>
          <a:p>
            <a:pPr algn="just"/>
            <a:endParaRPr lang="en-AU" dirty="0">
              <a:latin typeface="Times New Roman" panose="02020603050405020304" pitchFamily="18" charset="0"/>
              <a:ea typeface="Times New Roman" panose="02020603050405020304" pitchFamily="18" charset="0"/>
            </a:endParaRPr>
          </a:p>
          <a:p>
            <a:pPr algn="just"/>
            <a:r>
              <a:rPr lang="en-AU" sz="1800" dirty="0">
                <a:effectLst/>
                <a:latin typeface="Times New Roman" panose="02020603050405020304" pitchFamily="18" charset="0"/>
                <a:ea typeface="Times New Roman" panose="02020603050405020304" pitchFamily="18" charset="0"/>
              </a:rPr>
              <a:t>12. M. F. B. ,. M. F. S. Delphine Immaculate, “Software Bug Prediction Using Supervised Machine Learning Algorithms,” 2019 IEEE, 2019</a:t>
            </a:r>
          </a:p>
          <a:p>
            <a:pPr algn="just"/>
            <a:endParaRPr lang="en-AU" dirty="0">
              <a:latin typeface="Times New Roman" panose="02020603050405020304" pitchFamily="18" charset="0"/>
              <a:ea typeface="Times New Roman" panose="02020603050405020304" pitchFamily="18" charset="0"/>
            </a:endParaRPr>
          </a:p>
          <a:p>
            <a:pPr algn="just"/>
            <a:r>
              <a:rPr lang="en-AU" sz="1800" dirty="0">
                <a:effectLst/>
                <a:latin typeface="Times New Roman" panose="02020603050405020304" pitchFamily="18" charset="0"/>
                <a:ea typeface="Times New Roman" panose="02020603050405020304" pitchFamily="18" charset="0"/>
              </a:rPr>
              <a:t>13. R. F. ·. Z. T. ·. L. ·. S. ·. T. </a:t>
            </a:r>
            <a:r>
              <a:rPr lang="en-AU" sz="1800" dirty="0" err="1">
                <a:effectLst/>
                <a:latin typeface="Times New Roman" panose="02020603050405020304" pitchFamily="18" charset="0"/>
                <a:ea typeface="Times New Roman" panose="02020603050405020304" pitchFamily="18" charset="0"/>
              </a:rPr>
              <a:t>Gyimothy</a:t>
            </a:r>
            <a:r>
              <a:rPr lang="en-AU" sz="1800" dirty="0">
                <a:effectLst/>
                <a:latin typeface="Times New Roman" panose="02020603050405020304" pitchFamily="18" charset="0"/>
                <a:ea typeface="Times New Roman" panose="02020603050405020304" pitchFamily="18" charset="0"/>
              </a:rPr>
              <a:t>, “A public unified bug dataset for java and its assessment regarding metrics and bug prediction,” The Author(s), 2020.</a:t>
            </a:r>
          </a:p>
          <a:p>
            <a:pPr algn="just"/>
            <a:endParaRPr lang="en-AU" dirty="0">
              <a:latin typeface="Times New Roman" panose="02020603050405020304" pitchFamily="18" charset="0"/>
              <a:ea typeface="Times New Roman" panose="02020603050405020304" pitchFamily="18" charset="0"/>
            </a:endParaRPr>
          </a:p>
          <a:p>
            <a:pPr algn="just"/>
            <a:r>
              <a:rPr lang="en-AU" sz="1800" dirty="0">
                <a:effectLst/>
                <a:latin typeface="Times New Roman" panose="02020603050405020304" pitchFamily="18" charset="0"/>
                <a:ea typeface="Times New Roman" panose="02020603050405020304" pitchFamily="18" charset="0"/>
              </a:rPr>
              <a:t>14. A. C. </a:t>
            </a:r>
            <a:r>
              <a:rPr lang="en-AU" sz="1800" dirty="0" err="1">
                <a:effectLst/>
                <a:latin typeface="Times New Roman" panose="02020603050405020304" pitchFamily="18" charset="0"/>
                <a:ea typeface="Times New Roman" panose="02020603050405020304" pitchFamily="18" charset="0"/>
              </a:rPr>
              <a:t>Praman</a:t>
            </a:r>
            <a:r>
              <a:rPr lang="en-AU" sz="1800" dirty="0">
                <a:effectLst/>
                <a:latin typeface="Times New Roman" panose="02020603050405020304" pitchFamily="18" charset="0"/>
                <a:ea typeface="Times New Roman" panose="02020603050405020304" pitchFamily="18" charset="0"/>
              </a:rPr>
              <a:t> Deep Singh, “Software defect prediction analysis using machine learning algorithms,” 2017 7th International Conference on Cloud Computing, Data Science &amp; Engineering - Confluence (Confluence), 2017.</a:t>
            </a:r>
          </a:p>
          <a:p>
            <a:pPr algn="just"/>
            <a:endParaRPr lang="en-AU" dirty="0">
              <a:latin typeface="Times New Roman" panose="02020603050405020304" pitchFamily="18" charset="0"/>
              <a:ea typeface="Times New Roman" panose="02020603050405020304" pitchFamily="18" charset="0"/>
            </a:endParaRPr>
          </a:p>
          <a:p>
            <a:pPr algn="just"/>
            <a:r>
              <a:rPr lang="en-AU" sz="1800" dirty="0">
                <a:effectLst/>
                <a:latin typeface="Times New Roman" panose="02020603050405020304" pitchFamily="18" charset="0"/>
                <a:ea typeface="Times New Roman" panose="02020603050405020304" pitchFamily="18" charset="0"/>
              </a:rPr>
              <a:t>15. W. P. ,. G. S. </a:t>
            </a:r>
            <a:r>
              <a:rPr lang="en-AU" sz="1800" dirty="0" err="1">
                <a:effectLst/>
                <a:latin typeface="Times New Roman" panose="02020603050405020304" pitchFamily="18" charset="0"/>
                <a:ea typeface="Times New Roman" panose="02020603050405020304" pitchFamily="18" charset="0"/>
              </a:rPr>
              <a:t>Raimund</a:t>
            </a:r>
            <a:r>
              <a:rPr lang="en-AU" sz="1800" dirty="0">
                <a:effectLst/>
                <a:latin typeface="Times New Roman" panose="02020603050405020304" pitchFamily="18" charset="0"/>
                <a:ea typeface="Times New Roman" panose="02020603050405020304" pitchFamily="18" charset="0"/>
              </a:rPr>
              <a:t> Moser, “A Comparative Analysis of the Efficiency of Change Metrics and Static Code Attributes for Defect Prediction,” ICSE’08, 2008.</a:t>
            </a:r>
          </a:p>
          <a:p>
            <a:pPr marL="342900" indent="-342900" algn="just">
              <a:buFont typeface="+mj-lt"/>
              <a:buAutoNum type="arabicPeriod"/>
            </a:pPr>
            <a:endParaRPr lang="en-AU" sz="1800" dirty="0">
              <a:effectLst/>
              <a:latin typeface="Times New Roman" panose="02020603050405020304" pitchFamily="18" charset="0"/>
              <a:ea typeface="Times New Roman" panose="02020603050405020304" pitchFamily="18" charset="0"/>
            </a:endParaRPr>
          </a:p>
          <a:p>
            <a:pPr algn="just"/>
            <a:endParaRPr lang="en-AU" sz="1800" dirty="0">
              <a:effectLst/>
              <a:latin typeface="Times New Roman" panose="02020603050405020304" pitchFamily="18" charset="0"/>
              <a:ea typeface="Times New Roman" panose="02020603050405020304" pitchFamily="18" charset="0"/>
            </a:endParaRPr>
          </a:p>
          <a:p>
            <a:pPr algn="just"/>
            <a:r>
              <a:rPr lang="en-US" dirty="0"/>
              <a:t> </a:t>
            </a:r>
          </a:p>
        </p:txBody>
      </p:sp>
      <p:sp>
        <p:nvSpPr>
          <p:cNvPr id="4" name="Rectangle 3">
            <a:extLst>
              <a:ext uri="{FF2B5EF4-FFF2-40B4-BE49-F238E27FC236}">
                <a16:creationId xmlns:a16="http://schemas.microsoft.com/office/drawing/2014/main" id="{125F5770-8129-2901-7331-8291E75EA4CD}"/>
              </a:ext>
            </a:extLst>
          </p:cNvPr>
          <p:cNvSpPr/>
          <p:nvPr/>
        </p:nvSpPr>
        <p:spPr>
          <a:xfrm>
            <a:off x="11125200" y="6378272"/>
            <a:ext cx="596347" cy="4797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20</a:t>
            </a:r>
          </a:p>
        </p:txBody>
      </p:sp>
      <p:pic>
        <p:nvPicPr>
          <p:cNvPr id="5" name="Picture 4">
            <a:extLst>
              <a:ext uri="{FF2B5EF4-FFF2-40B4-BE49-F238E27FC236}">
                <a16:creationId xmlns:a16="http://schemas.microsoft.com/office/drawing/2014/main" id="{19F36A24-A23C-7B59-7FB1-B723B80F38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54901"/>
            <a:ext cx="951703" cy="857507"/>
          </a:xfrm>
          <a:prstGeom prst="rect">
            <a:avLst/>
          </a:prstGeom>
        </p:spPr>
      </p:pic>
      <p:pic>
        <p:nvPicPr>
          <p:cNvPr id="6" name="Picture 5">
            <a:extLst>
              <a:ext uri="{FF2B5EF4-FFF2-40B4-BE49-F238E27FC236}">
                <a16:creationId xmlns:a16="http://schemas.microsoft.com/office/drawing/2014/main" id="{EF8120BC-076D-062A-22B5-5D0F15D023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48633" y="162678"/>
            <a:ext cx="1476926" cy="1476926"/>
          </a:xfrm>
          <a:prstGeom prst="rect">
            <a:avLst/>
          </a:prstGeom>
        </p:spPr>
      </p:pic>
    </p:spTree>
    <p:extLst>
      <p:ext uri="{BB962C8B-B14F-4D97-AF65-F5344CB8AC3E}">
        <p14:creationId xmlns:p14="http://schemas.microsoft.com/office/powerpoint/2010/main" val="22259857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43CDD9-6574-4286-AEC0-D0EEDF1278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20508" y="369611"/>
            <a:ext cx="1416120" cy="1416120"/>
          </a:xfrm>
          <a:prstGeom prst="rect">
            <a:avLst/>
          </a:prstGeom>
        </p:spPr>
      </p:pic>
      <p:pic>
        <p:nvPicPr>
          <p:cNvPr id="12" name="Picture 11">
            <a:extLst>
              <a:ext uri="{FF2B5EF4-FFF2-40B4-BE49-F238E27FC236}">
                <a16:creationId xmlns:a16="http://schemas.microsoft.com/office/drawing/2014/main" id="{3920B455-5796-4124-9206-3560EE32DB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6462" y="941696"/>
            <a:ext cx="7499075" cy="4345600"/>
          </a:xfrm>
          <a:prstGeom prst="rect">
            <a:avLst/>
          </a:prstGeom>
        </p:spPr>
      </p:pic>
      <p:sp>
        <p:nvSpPr>
          <p:cNvPr id="13" name="Rectangle 12">
            <a:extLst>
              <a:ext uri="{FF2B5EF4-FFF2-40B4-BE49-F238E27FC236}">
                <a16:creationId xmlns:a16="http://schemas.microsoft.com/office/drawing/2014/main" id="{D575A1F5-BD24-4AA4-9DAC-132DA2D6D406}"/>
              </a:ext>
            </a:extLst>
          </p:cNvPr>
          <p:cNvSpPr/>
          <p:nvPr/>
        </p:nvSpPr>
        <p:spPr>
          <a:xfrm>
            <a:off x="10171457" y="6413825"/>
            <a:ext cx="562804" cy="44417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21</a:t>
            </a:r>
          </a:p>
        </p:txBody>
      </p:sp>
      <p:pic>
        <p:nvPicPr>
          <p:cNvPr id="7" name="Picture 6">
            <a:extLst>
              <a:ext uri="{FF2B5EF4-FFF2-40B4-BE49-F238E27FC236}">
                <a16:creationId xmlns:a16="http://schemas.microsoft.com/office/drawing/2014/main" id="{02FE0166-B4ED-2F91-7C58-CB0997D3EC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5499652"/>
            <a:ext cx="902036" cy="812756"/>
          </a:xfrm>
          <a:prstGeom prst="rect">
            <a:avLst/>
          </a:prstGeom>
        </p:spPr>
      </p:pic>
    </p:spTree>
    <p:extLst>
      <p:ext uri="{BB962C8B-B14F-4D97-AF65-F5344CB8AC3E}">
        <p14:creationId xmlns:p14="http://schemas.microsoft.com/office/powerpoint/2010/main" val="299412889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4622</TotalTime>
  <Words>1702</Words>
  <Application>Microsoft Office PowerPoint</Application>
  <PresentationFormat>Widescreen</PresentationFormat>
  <Paragraphs>186</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Times New Roman</vt:lpstr>
      <vt:lpstr>Wingdings</vt:lpstr>
      <vt:lpstr>Retrospect</vt:lpstr>
      <vt:lpstr>PowerPoint Presentation</vt:lpstr>
      <vt:lpstr>PowerPoint Presentation</vt:lpstr>
      <vt:lpstr>Outlines</vt:lpstr>
      <vt:lpstr>INTRODUCTION</vt:lpstr>
      <vt:lpstr>MOTIVATION</vt:lpstr>
      <vt:lpstr>OBJECTIVE</vt:lpstr>
      <vt:lpstr>RESEARCH QUESTION</vt:lpstr>
      <vt:lpstr>LITERATURE REVIEW</vt:lpstr>
      <vt:lpstr>LITERATURE REVIEW</vt:lpstr>
      <vt:lpstr>LITERATURE REVIEW</vt:lpstr>
      <vt:lpstr>LITERATURE REVIEW</vt:lpstr>
      <vt:lpstr>LITERATURE REVIEW</vt:lpstr>
      <vt:lpstr>PROPOSED METHODOLOGY</vt:lpstr>
      <vt:lpstr>WORKING PROCEDURE</vt:lpstr>
      <vt:lpstr>CLASSIFIER SELECTION</vt:lpstr>
      <vt:lpstr>RESULTS</vt:lpstr>
      <vt:lpstr>RESULTS</vt:lpstr>
      <vt:lpstr>FUTURE WORK</vt:lpstr>
      <vt:lpstr>CONCLUSION</vt:lpstr>
      <vt:lpstr>REFERENCE</vt:lpstr>
      <vt:lpstr>REFERENCE</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 of conduct for Serve up Software Limited</dc:title>
  <dc:creator>TAZRIAN ZAMAN TUSHTI</dc:creator>
  <cp:lastModifiedBy>Its_ EMON</cp:lastModifiedBy>
  <cp:revision>58</cp:revision>
  <dcterms:created xsi:type="dcterms:W3CDTF">2021-11-30T13:55:25Z</dcterms:created>
  <dcterms:modified xsi:type="dcterms:W3CDTF">2026-04-29T22:25:11Z</dcterms:modified>
</cp:coreProperties>
</file>